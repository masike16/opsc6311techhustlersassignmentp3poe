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12700">
            <a:solidFill>
              <a:srgbClr val="D7E1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072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MediCloud EMR | Tech Hustlers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0727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0727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320000">
            <a:off x="7498080" y="-731520"/>
            <a:ext cx="5303520" cy="5303520"/>
          </a:xfrm>
          <a:prstGeom prst="arc">
            <a:avLst/>
          </a:prstGeom>
          <a:noFill/>
          <a:ln w="31750">
            <a:solidFill>
              <a:srgbClr val="0EAD9B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2300000">
            <a:off x="8092440" y="2011680"/>
            <a:ext cx="4389120" cy="4389120"/>
          </a:xfrm>
          <a:prstGeom prst="arc">
            <a:avLst/>
          </a:prstGeom>
          <a:noFill/>
          <a:ln w="25400">
            <a:solidFill>
              <a:srgbClr val="FF6B4A">
                <a:alpha val="9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188720"/>
            <a:ext cx="6766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</a:rPr>
              <a:t>MediCloud EMR System</a:t>
            </a:r>
            <a:endParaRPr lang="en-US" sz="3500" dirty="0"/>
          </a:p>
        </p:txBody>
      </p:sp>
      <p:sp>
        <p:nvSpPr>
          <p:cNvPr id="6" name="Text 4"/>
          <p:cNvSpPr/>
          <p:nvPr/>
        </p:nvSpPr>
        <p:spPr>
          <a:xfrm>
            <a:off x="685800" y="1920240"/>
            <a:ext cx="6035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FE8F3"/>
                </a:solidFill>
              </a:rPr>
              <a:t>Electronic Medical Record Solution for VitaCare Family Medical Centre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13232" y="2788920"/>
            <a:ext cx="2148840" cy="274320"/>
          </a:xfrm>
          <a:prstGeom prst="roundRect">
            <a:avLst>
              <a:gd name="adj" fmla="val 23333"/>
            </a:avLst>
          </a:prstGeom>
          <a:solidFill>
            <a:srgbClr val="0EAD9B"/>
          </a:solidFill>
          <a:ln w="12700">
            <a:solidFill>
              <a:srgbClr val="0EAD9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2857500"/>
            <a:ext cx="200253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FFFFFF"/>
                </a:solidFill>
              </a:rPr>
              <a:t>Task 3 Project Presentation</a:t>
            </a:r>
            <a:endParaRPr lang="en-US" sz="660" dirty="0"/>
          </a:p>
        </p:txBody>
      </p:sp>
      <p:sp>
        <p:nvSpPr>
          <p:cNvPr id="9" name="Shape 7"/>
          <p:cNvSpPr/>
          <p:nvPr/>
        </p:nvSpPr>
        <p:spPr>
          <a:xfrm>
            <a:off x="3035808" y="2788920"/>
            <a:ext cx="1325880" cy="274320"/>
          </a:xfrm>
          <a:prstGeom prst="roundRect">
            <a:avLst>
              <a:gd name="adj" fmla="val 23333"/>
            </a:avLst>
          </a:prstGeom>
          <a:solidFill>
            <a:srgbClr val="FF6B4A"/>
          </a:solidFill>
          <a:ln w="12700">
            <a:solidFill>
              <a:srgbClr val="FF6B4A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08960" y="2857500"/>
            <a:ext cx="117957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FFFFFF"/>
                </a:solidFill>
              </a:rPr>
              <a:t>Built in VS Code</a:t>
            </a:r>
            <a:endParaRPr lang="en-US" sz="660" dirty="0"/>
          </a:p>
        </p:txBody>
      </p:sp>
      <p:sp>
        <p:nvSpPr>
          <p:cNvPr id="11" name="Text 9"/>
          <p:cNvSpPr/>
          <p:nvPr/>
        </p:nvSpPr>
        <p:spPr>
          <a:xfrm>
            <a:off x="713232" y="404164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Tech Hustlers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13232" y="4462272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CFE8F3"/>
                </a:solidFill>
              </a:rPr>
              <a:t>Acazia Ammon | Liyema Masala | Junior Rasenyalo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CFE8F3"/>
                </a:solidFill>
              </a:rPr>
              <a:t>XISD5319 - Work Integrated Learning</a:t>
            </a:r>
            <a:endParaRPr lang="en-US" sz="940" dirty="0"/>
          </a:p>
        </p:txBody>
      </p:sp>
      <p:sp>
        <p:nvSpPr>
          <p:cNvPr id="13" name="Shape 11"/>
          <p:cNvSpPr/>
          <p:nvPr/>
        </p:nvSpPr>
        <p:spPr>
          <a:xfrm>
            <a:off x="7818120" y="4315968"/>
            <a:ext cx="3364992" cy="987552"/>
          </a:xfrm>
          <a:prstGeom prst="roundRect">
            <a:avLst>
              <a:gd name="adj" fmla="val 7407"/>
            </a:avLst>
          </a:prstGeom>
          <a:solidFill>
            <a:srgbClr val="173B5A">
              <a:alpha val="96000"/>
            </a:srgbClr>
          </a:solidFill>
          <a:ln w="12700">
            <a:solidFill>
              <a:srgbClr val="2E536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19872" y="4517136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From paper chaos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to digital clarity</a:t>
            </a:r>
            <a:endParaRPr lang="en-US" sz="1800" dirty="0"/>
          </a:p>
        </p:txBody>
      </p:sp>
    </p:spTree>
  </p:cSld>
  <p:transition spd="med">
    <p:fade/>
  </p:transition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92608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EAD9B"/>
                </a:solidFill>
              </a:rPr>
              <a:t>OUTLINE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2A43"/>
                </a:solidFill>
              </a:rPr>
              <a:t>Presentation Roadmap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AD9B"/>
          </a:solidFill>
          <a:ln w="12700">
            <a:solidFill>
              <a:srgbClr val="0EAD9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17320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5636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AD9B"/>
                </a:solidFill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32688" y="198424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02A43"/>
                </a:solidFill>
              </a:rPr>
              <a:t>Problem + POPIA pressure</a:t>
            </a:r>
            <a:endParaRPr lang="en-US" sz="920" dirty="0"/>
          </a:p>
        </p:txBody>
      </p:sp>
      <p:sp>
        <p:nvSpPr>
          <p:cNvPr id="8" name="Shape 6"/>
          <p:cNvSpPr/>
          <p:nvPr/>
        </p:nvSpPr>
        <p:spPr>
          <a:xfrm>
            <a:off x="3520440" y="1417320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85032" y="15636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4A"/>
                </a:solidFill>
              </a:rPr>
              <a:t>02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721608" y="198424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02A43"/>
                </a:solidFill>
              </a:rPr>
              <a:t>MediCloud solution value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6309360" y="1417320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73952" y="15636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AD9B"/>
                </a:solidFill>
              </a:rPr>
              <a:t>03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10528" y="198424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02A43"/>
                </a:solidFill>
              </a:rPr>
              <a:t>Architecture and security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9098280" y="1417320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62872" y="15636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4A"/>
                </a:solidFill>
              </a:rPr>
              <a:t>04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299448" y="198424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02A43"/>
                </a:solidFill>
              </a:rPr>
              <a:t>Task 3 project plan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731520" y="3291840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6112" y="343814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AD9B"/>
                </a:solidFill>
              </a:rPr>
              <a:t>05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32688" y="385876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02A43"/>
                </a:solidFill>
              </a:rPr>
              <a:t>Feasibility and risk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3520440" y="3291840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85032" y="343814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4A"/>
                </a:solidFill>
              </a:rPr>
              <a:t>06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721608" y="385876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02A43"/>
                </a:solidFill>
              </a:rPr>
              <a:t>Task 2 improvements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309360" y="3291840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73952" y="343814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AD9B"/>
                </a:solidFill>
              </a:rPr>
              <a:t>07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510528" y="385876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02A43"/>
                </a:solidFill>
              </a:rPr>
              <a:t>Database + prototype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9098280" y="3291840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262872" y="343814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4A"/>
                </a:solidFill>
              </a:rPr>
              <a:t>08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299448" y="385876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02A43"/>
                </a:solidFill>
              </a:rPr>
              <a:t>Team and Q&amp;A</a:t>
            </a:r>
            <a:endParaRPr lang="en-US" sz="9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0727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transition spd="med">
    <p:push dir="l"/>
  </p:transition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92608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EAD9B"/>
                </a:solidFill>
              </a:rPr>
              <a:t>PROBLEM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2A43"/>
                </a:solidFill>
              </a:rPr>
              <a:t>VitaCare’s Paper System Creates Four Business Risks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AD9B"/>
          </a:solidFill>
          <a:ln w="12700">
            <a:solidFill>
              <a:srgbClr val="0EAD9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325880"/>
            <a:ext cx="489204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1325880"/>
            <a:ext cx="73152" cy="1078992"/>
          </a:xfrm>
          <a:prstGeom prst="rect">
            <a:avLst/>
          </a:prstGeom>
          <a:solidFill>
            <a:srgbClr val="FF6B4A"/>
          </a:solidFill>
          <a:ln w="12700">
            <a:solidFill>
              <a:srgbClr val="FF6B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0976" y="1472184"/>
            <a:ext cx="4507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102A43"/>
                </a:solidFill>
              </a:rPr>
              <a:t>Lost files</a:t>
            </a:r>
            <a:endParaRPr lang="en-US" sz="1040" dirty="0"/>
          </a:p>
        </p:txBody>
      </p:sp>
      <p:sp>
        <p:nvSpPr>
          <p:cNvPr id="8" name="Text 6"/>
          <p:cNvSpPr/>
          <p:nvPr/>
        </p:nvSpPr>
        <p:spPr>
          <a:xfrm>
            <a:off x="950976" y="1755648"/>
            <a:ext cx="4507992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243B53"/>
                </a:solidFill>
              </a:rPr>
              <a:t>Paper records slow down consultations and can disappear at the worst moment.</a:t>
            </a:r>
            <a:endParaRPr lang="en-US" sz="810" dirty="0"/>
          </a:p>
        </p:txBody>
      </p:sp>
      <p:sp>
        <p:nvSpPr>
          <p:cNvPr id="9" name="Shape 7"/>
          <p:cNvSpPr/>
          <p:nvPr/>
        </p:nvSpPr>
        <p:spPr>
          <a:xfrm>
            <a:off x="6144768" y="1325880"/>
            <a:ext cx="489204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44768" y="1325880"/>
            <a:ext cx="73152" cy="1078992"/>
          </a:xfrm>
          <a:prstGeom prst="rect">
            <a:avLst/>
          </a:prstGeom>
          <a:solidFill>
            <a:srgbClr val="F9B115"/>
          </a:solidFill>
          <a:ln w="12700">
            <a:solidFill>
              <a:srgbClr val="F9B11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45936" y="1472184"/>
            <a:ext cx="4507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102A43"/>
                </a:solidFill>
              </a:rPr>
              <a:t>Appointment clashes</a:t>
            </a:r>
            <a:endParaRPr lang="en-US" sz="1040" dirty="0"/>
          </a:p>
        </p:txBody>
      </p:sp>
      <p:sp>
        <p:nvSpPr>
          <p:cNvPr id="12" name="Text 10"/>
          <p:cNvSpPr/>
          <p:nvPr/>
        </p:nvSpPr>
        <p:spPr>
          <a:xfrm>
            <a:off x="6345936" y="1755648"/>
            <a:ext cx="4507992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243B53"/>
                </a:solidFill>
              </a:rPr>
              <a:t>Manual booking makes double-booking and missed follow-ups more likely.</a:t>
            </a:r>
            <a:endParaRPr lang="en-US" sz="810" dirty="0"/>
          </a:p>
        </p:txBody>
      </p:sp>
      <p:sp>
        <p:nvSpPr>
          <p:cNvPr id="13" name="Shape 11"/>
          <p:cNvSpPr/>
          <p:nvPr/>
        </p:nvSpPr>
        <p:spPr>
          <a:xfrm>
            <a:off x="749808" y="2862072"/>
            <a:ext cx="489204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9808" y="2862072"/>
            <a:ext cx="73152" cy="1078992"/>
          </a:xfrm>
          <a:prstGeom prst="rect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50976" y="3008376"/>
            <a:ext cx="4507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102A43"/>
                </a:solidFill>
              </a:rPr>
              <a:t>Billing errors</a:t>
            </a:r>
            <a:endParaRPr lang="en-US" sz="1040" dirty="0"/>
          </a:p>
        </p:txBody>
      </p:sp>
      <p:sp>
        <p:nvSpPr>
          <p:cNvPr id="16" name="Text 14"/>
          <p:cNvSpPr/>
          <p:nvPr/>
        </p:nvSpPr>
        <p:spPr>
          <a:xfrm>
            <a:off x="950976" y="3291840"/>
            <a:ext cx="4507992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243B53"/>
                </a:solidFill>
              </a:rPr>
              <a:t>Disconnected records create inaccurate invoices and slower payment collection.</a:t>
            </a:r>
            <a:endParaRPr lang="en-US" sz="810" dirty="0"/>
          </a:p>
        </p:txBody>
      </p:sp>
      <p:sp>
        <p:nvSpPr>
          <p:cNvPr id="17" name="Shape 15"/>
          <p:cNvSpPr/>
          <p:nvPr/>
        </p:nvSpPr>
        <p:spPr>
          <a:xfrm>
            <a:off x="6144768" y="2862072"/>
            <a:ext cx="489204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44768" y="2862072"/>
            <a:ext cx="73152" cy="1078992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45936" y="3008376"/>
            <a:ext cx="4507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102A43"/>
                </a:solidFill>
              </a:rPr>
              <a:t>POPIA exposure</a:t>
            </a:r>
            <a:endParaRPr lang="en-US" sz="1040" dirty="0"/>
          </a:p>
        </p:txBody>
      </p:sp>
      <p:sp>
        <p:nvSpPr>
          <p:cNvPr id="20" name="Text 18"/>
          <p:cNvSpPr/>
          <p:nvPr/>
        </p:nvSpPr>
        <p:spPr>
          <a:xfrm>
            <a:off x="6345936" y="3291840"/>
            <a:ext cx="4507992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243B53"/>
                </a:solidFill>
              </a:rPr>
              <a:t>Weak access control and audit trails raise compliance and trust risks.</a:t>
            </a:r>
            <a:endParaRPr lang="en-US" sz="810" dirty="0"/>
          </a:p>
        </p:txBody>
      </p:sp>
      <p:sp>
        <p:nvSpPr>
          <p:cNvPr id="21" name="Shape 19"/>
          <p:cNvSpPr/>
          <p:nvPr/>
        </p:nvSpPr>
        <p:spPr>
          <a:xfrm>
            <a:off x="5074920" y="4535424"/>
            <a:ext cx="2057400" cy="502920"/>
          </a:xfrm>
          <a:prstGeom prst="chevron">
            <a:avLst/>
          </a:prstGeom>
          <a:solidFill>
            <a:srgbClr val="0EAD9B"/>
          </a:solidFill>
          <a:ln w="12700">
            <a:solidFill>
              <a:srgbClr val="0EAD9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0" y="5230368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Digital transformation is now operational risk management.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0727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transition spd="med">
    <p:fade/>
  </p:transition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92608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EAD9B"/>
                </a:solidFill>
              </a:rPr>
              <a:t>COMPLIANCE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2A43"/>
                </a:solidFill>
              </a:rPr>
              <a:t>POPIA Sets the Standard: Confidentiality, Integrity, Availability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AD9B"/>
          </a:solidFill>
          <a:ln w="12700">
            <a:solidFill>
              <a:srgbClr val="0EAD9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417320"/>
            <a:ext cx="315468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38528" y="1783080"/>
            <a:ext cx="749808" cy="749808"/>
          </a:xfrm>
          <a:prstGeom prst="ellipse">
            <a:avLst/>
          </a:prstGeom>
          <a:solidFill>
            <a:srgbClr val="0EAD9B"/>
          </a:solidFill>
          <a:ln w="12700">
            <a:solidFill>
              <a:srgbClr val="0EAD9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938528" y="193852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87552" y="276148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02A43"/>
                </a:solidFill>
              </a:rPr>
              <a:t>Confidentiality</a:t>
            </a:r>
            <a:endParaRPr lang="en-US" sz="1320" dirty="0"/>
          </a:p>
        </p:txBody>
      </p:sp>
      <p:sp>
        <p:nvSpPr>
          <p:cNvPr id="9" name="Text 7"/>
          <p:cNvSpPr/>
          <p:nvPr/>
        </p:nvSpPr>
        <p:spPr>
          <a:xfrm>
            <a:off x="987552" y="3172968"/>
            <a:ext cx="26517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243B53"/>
                </a:solidFill>
              </a:rPr>
              <a:t>Role-based access keeps patient data limited to approved users.</a:t>
            </a:r>
            <a:endParaRPr lang="en-US" sz="830" dirty="0"/>
          </a:p>
        </p:txBody>
      </p:sp>
      <p:sp>
        <p:nvSpPr>
          <p:cNvPr id="10" name="Shape 8"/>
          <p:cNvSpPr/>
          <p:nvPr/>
        </p:nvSpPr>
        <p:spPr>
          <a:xfrm>
            <a:off x="4453128" y="1417320"/>
            <a:ext cx="315468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41848" y="1783080"/>
            <a:ext cx="749808" cy="749808"/>
          </a:xfrm>
          <a:prstGeom prst="ellipse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41848" y="193852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I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90872" y="276148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02A43"/>
                </a:solidFill>
              </a:rPr>
              <a:t>Integrity</a:t>
            </a:r>
            <a:endParaRPr lang="en-US" sz="1320" dirty="0"/>
          </a:p>
        </p:txBody>
      </p:sp>
      <p:sp>
        <p:nvSpPr>
          <p:cNvPr id="14" name="Text 12"/>
          <p:cNvSpPr/>
          <p:nvPr/>
        </p:nvSpPr>
        <p:spPr>
          <a:xfrm>
            <a:off x="4690872" y="3172968"/>
            <a:ext cx="26517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243B53"/>
                </a:solidFill>
              </a:rPr>
              <a:t>Validated digital records reduce accidental changes and missing details.</a:t>
            </a:r>
            <a:endParaRPr lang="en-US" sz="830" dirty="0"/>
          </a:p>
        </p:txBody>
      </p:sp>
      <p:sp>
        <p:nvSpPr>
          <p:cNvPr id="15" name="Shape 13"/>
          <p:cNvSpPr/>
          <p:nvPr/>
        </p:nvSpPr>
        <p:spPr>
          <a:xfrm>
            <a:off x="8156448" y="1417320"/>
            <a:ext cx="315468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345168" y="1783080"/>
            <a:ext cx="749808" cy="749808"/>
          </a:xfrm>
          <a:prstGeom prst="ellipse">
            <a:avLst/>
          </a:prstGeom>
          <a:solidFill>
            <a:srgbClr val="FF6B4A"/>
          </a:solidFill>
          <a:ln w="12700">
            <a:solidFill>
              <a:srgbClr val="FF6B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45168" y="193852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94192" y="276148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02A43"/>
                </a:solidFill>
              </a:rPr>
              <a:t>Availability</a:t>
            </a:r>
            <a:endParaRPr lang="en-US" sz="1320" dirty="0"/>
          </a:p>
        </p:txBody>
      </p:sp>
      <p:sp>
        <p:nvSpPr>
          <p:cNvPr id="19" name="Text 17"/>
          <p:cNvSpPr/>
          <p:nvPr/>
        </p:nvSpPr>
        <p:spPr>
          <a:xfrm>
            <a:off x="8394192" y="3172968"/>
            <a:ext cx="26517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243B53"/>
                </a:solidFill>
              </a:rPr>
              <a:t>Cloud access keeps patient history available when care decisions happen.</a:t>
            </a:r>
            <a:endParaRPr lang="en-US" sz="830" dirty="0"/>
          </a:p>
        </p:txBody>
      </p:sp>
      <p:sp>
        <p:nvSpPr>
          <p:cNvPr id="20" name="Text 18"/>
          <p:cNvSpPr/>
          <p:nvPr/>
        </p:nvSpPr>
        <p:spPr>
          <a:xfrm>
            <a:off x="1024128" y="4754880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02A43"/>
                </a:solidFill>
              </a:rPr>
              <a:t>MediCloud addresses POPIA through secure cloud storage, authentication, RBAC and audit logging.</a:t>
            </a:r>
            <a:endParaRPr lang="en-US" sz="13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0727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transition spd="med">
    <p:push dir="l"/>
  </p:transition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92608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EAD9B"/>
                </a:solidFill>
              </a:rPr>
              <a:t>SOLUTION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2A43"/>
                </a:solidFill>
              </a:rPr>
              <a:t>MediCloud EMR Converts Admin Friction Into Clinical Flow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AD9B"/>
          </a:solidFill>
          <a:ln w="12700">
            <a:solidFill>
              <a:srgbClr val="0EAD9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17536" y="2862072"/>
            <a:ext cx="1572768" cy="585216"/>
          </a:xfrm>
          <a:prstGeom prst="roundRect">
            <a:avLst>
              <a:gd name="adj" fmla="val 9375"/>
            </a:avLst>
          </a:prstGeom>
          <a:solidFill>
            <a:srgbClr val="DAF5EF"/>
          </a:solidFill>
          <a:ln w="12700">
            <a:solidFill>
              <a:srgbClr val="A9E8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27264" y="3044952"/>
            <a:ext cx="13533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02A43"/>
                </a:solidFill>
              </a:rPr>
              <a:t>Patient records</a:t>
            </a:r>
            <a:endParaRPr lang="en-US" sz="720" dirty="0"/>
          </a:p>
        </p:txBody>
      </p:sp>
      <p:sp>
        <p:nvSpPr>
          <p:cNvPr id="7" name="Shape 5"/>
          <p:cNvSpPr/>
          <p:nvPr/>
        </p:nvSpPr>
        <p:spPr>
          <a:xfrm>
            <a:off x="6254496" y="4247886"/>
            <a:ext cx="1572768" cy="585216"/>
          </a:xfrm>
          <a:prstGeom prst="roundRect">
            <a:avLst>
              <a:gd name="adj" fmla="val 9375"/>
            </a:avLst>
          </a:prstGeom>
          <a:solidFill>
            <a:srgbClr val="E8F1FF"/>
          </a:solidFill>
          <a:ln w="12700">
            <a:solidFill>
              <a:srgbClr val="B9D0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64224" y="4430766"/>
            <a:ext cx="13533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02A43"/>
                </a:solidFill>
              </a:rPr>
              <a:t>Appointments</a:t>
            </a:r>
            <a:endParaRPr lang="en-US" sz="720" dirty="0"/>
          </a:p>
        </p:txBody>
      </p:sp>
      <p:sp>
        <p:nvSpPr>
          <p:cNvPr id="9" name="Shape 7"/>
          <p:cNvSpPr/>
          <p:nvPr/>
        </p:nvSpPr>
        <p:spPr>
          <a:xfrm>
            <a:off x="3328416" y="4247886"/>
            <a:ext cx="1572768" cy="585216"/>
          </a:xfrm>
          <a:prstGeom prst="roundRect">
            <a:avLst>
              <a:gd name="adj" fmla="val 9375"/>
            </a:avLst>
          </a:prstGeom>
          <a:solidFill>
            <a:srgbClr val="DAF5EF"/>
          </a:solidFill>
          <a:ln w="12700">
            <a:solidFill>
              <a:srgbClr val="A9E8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38144" y="4430766"/>
            <a:ext cx="13533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02A43"/>
                </a:solidFill>
              </a:rPr>
              <a:t>Prescriptions</a:t>
            </a:r>
            <a:endParaRPr lang="en-US" sz="720" dirty="0"/>
          </a:p>
        </p:txBody>
      </p:sp>
      <p:sp>
        <p:nvSpPr>
          <p:cNvPr id="11" name="Shape 9"/>
          <p:cNvSpPr/>
          <p:nvPr/>
        </p:nvSpPr>
        <p:spPr>
          <a:xfrm>
            <a:off x="1865376" y="2862072"/>
            <a:ext cx="1572768" cy="585216"/>
          </a:xfrm>
          <a:prstGeom prst="roundRect">
            <a:avLst>
              <a:gd name="adj" fmla="val 9375"/>
            </a:avLst>
          </a:prstGeom>
          <a:solidFill>
            <a:srgbClr val="E8F1FF"/>
          </a:solidFill>
          <a:ln w="12700">
            <a:solidFill>
              <a:srgbClr val="B9D0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75104" y="3044952"/>
            <a:ext cx="13533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02A43"/>
                </a:solidFill>
              </a:rPr>
              <a:t>Billing</a:t>
            </a:r>
            <a:endParaRPr lang="en-US" sz="720" dirty="0"/>
          </a:p>
        </p:txBody>
      </p:sp>
      <p:sp>
        <p:nvSpPr>
          <p:cNvPr id="13" name="Shape 11"/>
          <p:cNvSpPr/>
          <p:nvPr/>
        </p:nvSpPr>
        <p:spPr>
          <a:xfrm>
            <a:off x="3328416" y="1476258"/>
            <a:ext cx="1572768" cy="585216"/>
          </a:xfrm>
          <a:prstGeom prst="roundRect">
            <a:avLst>
              <a:gd name="adj" fmla="val 9375"/>
            </a:avLst>
          </a:prstGeom>
          <a:solidFill>
            <a:srgbClr val="DAF5EF"/>
          </a:solidFill>
          <a:ln w="12700">
            <a:solidFill>
              <a:srgbClr val="A9E8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38144" y="1659138"/>
            <a:ext cx="13533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02A43"/>
                </a:solidFill>
              </a:rPr>
              <a:t>Cloud storage</a:t>
            </a:r>
            <a:endParaRPr lang="en-US" sz="720" dirty="0"/>
          </a:p>
        </p:txBody>
      </p:sp>
      <p:sp>
        <p:nvSpPr>
          <p:cNvPr id="15" name="Shape 13"/>
          <p:cNvSpPr/>
          <p:nvPr/>
        </p:nvSpPr>
        <p:spPr>
          <a:xfrm>
            <a:off x="6254496" y="1476258"/>
            <a:ext cx="1572768" cy="585216"/>
          </a:xfrm>
          <a:prstGeom prst="roundRect">
            <a:avLst>
              <a:gd name="adj" fmla="val 9375"/>
            </a:avLst>
          </a:prstGeom>
          <a:solidFill>
            <a:srgbClr val="E8F1FF"/>
          </a:solidFill>
          <a:ln w="12700">
            <a:solidFill>
              <a:srgbClr val="B9D0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64224" y="1659138"/>
            <a:ext cx="13533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02A43"/>
                </a:solidFill>
              </a:rPr>
              <a:t>RBAC security</a:t>
            </a:r>
            <a:endParaRPr lang="en-US" sz="720" dirty="0"/>
          </a:p>
        </p:txBody>
      </p:sp>
      <p:sp>
        <p:nvSpPr>
          <p:cNvPr id="17" name="Shape 15"/>
          <p:cNvSpPr/>
          <p:nvPr/>
        </p:nvSpPr>
        <p:spPr>
          <a:xfrm>
            <a:off x="4389120" y="2313432"/>
            <a:ext cx="2377440" cy="1508760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36592" y="2724912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MediCloud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EMR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713232" y="1417320"/>
            <a:ext cx="2907792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3232" y="1417320"/>
            <a:ext cx="73152" cy="932688"/>
          </a:xfrm>
          <a:prstGeom prst="rect">
            <a:avLst/>
          </a:prstGeom>
          <a:solidFill>
            <a:srgbClr val="0EAD9B"/>
          </a:solidFill>
          <a:ln w="12700">
            <a:solidFill>
              <a:srgbClr val="0EAD9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1563624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102A43"/>
                </a:solidFill>
              </a:rPr>
              <a:t>Operational</a:t>
            </a:r>
            <a:endParaRPr lang="en-US" sz="1040" dirty="0"/>
          </a:p>
        </p:txBody>
      </p:sp>
      <p:sp>
        <p:nvSpPr>
          <p:cNvPr id="22" name="Text 20"/>
          <p:cNvSpPr/>
          <p:nvPr/>
        </p:nvSpPr>
        <p:spPr>
          <a:xfrm>
            <a:off x="914400" y="1847088"/>
            <a:ext cx="2523744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243B53"/>
                </a:solidFill>
              </a:rPr>
              <a:t>Faster access, fewer admin errors and no more lost files.</a:t>
            </a:r>
            <a:endParaRPr lang="en-US" sz="810" dirty="0"/>
          </a:p>
        </p:txBody>
      </p:sp>
      <p:sp>
        <p:nvSpPr>
          <p:cNvPr id="23" name="Shape 21"/>
          <p:cNvSpPr/>
          <p:nvPr/>
        </p:nvSpPr>
        <p:spPr>
          <a:xfrm>
            <a:off x="713232" y="2651760"/>
            <a:ext cx="2907792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3232" y="2651760"/>
            <a:ext cx="73152" cy="932688"/>
          </a:xfrm>
          <a:prstGeom prst="rect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2798064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102A43"/>
                </a:solidFill>
              </a:rPr>
              <a:t>Clinical</a:t>
            </a:r>
            <a:endParaRPr lang="en-US" sz="1040" dirty="0"/>
          </a:p>
        </p:txBody>
      </p:sp>
      <p:sp>
        <p:nvSpPr>
          <p:cNvPr id="26" name="Text 24"/>
          <p:cNvSpPr/>
          <p:nvPr/>
        </p:nvSpPr>
        <p:spPr>
          <a:xfrm>
            <a:off x="914400" y="3081528"/>
            <a:ext cx="2523744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243B53"/>
                </a:solidFill>
              </a:rPr>
              <a:t>Complete histories and safer electronic prescriptions.</a:t>
            </a:r>
            <a:endParaRPr lang="en-US" sz="810" dirty="0"/>
          </a:p>
        </p:txBody>
      </p:sp>
      <p:sp>
        <p:nvSpPr>
          <p:cNvPr id="27" name="Shape 25"/>
          <p:cNvSpPr/>
          <p:nvPr/>
        </p:nvSpPr>
        <p:spPr>
          <a:xfrm>
            <a:off x="713232" y="3886200"/>
            <a:ext cx="2907792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13232" y="3886200"/>
            <a:ext cx="73152" cy="932688"/>
          </a:xfrm>
          <a:prstGeom prst="rect">
            <a:avLst/>
          </a:prstGeom>
          <a:solidFill>
            <a:srgbClr val="FF6B4A"/>
          </a:solidFill>
          <a:ln w="12700">
            <a:solidFill>
              <a:srgbClr val="FF6B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4032504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102A43"/>
                </a:solidFill>
              </a:rPr>
              <a:t>Financial</a:t>
            </a:r>
            <a:endParaRPr lang="en-US" sz="1040" dirty="0"/>
          </a:p>
        </p:txBody>
      </p:sp>
      <p:sp>
        <p:nvSpPr>
          <p:cNvPr id="30" name="Text 28"/>
          <p:cNvSpPr/>
          <p:nvPr/>
        </p:nvSpPr>
        <p:spPr>
          <a:xfrm>
            <a:off x="914400" y="4315968"/>
            <a:ext cx="2523744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243B53"/>
                </a:solidFill>
              </a:rPr>
              <a:t>Cleaner billing, faster payments and better revenue collection.</a:t>
            </a:r>
            <a:endParaRPr lang="en-US" sz="8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0727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transition spd="med">
    <p:fade/>
  </p:transition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92608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EAD9B"/>
                </a:solidFill>
              </a:rPr>
              <a:t>ARCHITECTURE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2A43"/>
                </a:solidFill>
              </a:rPr>
              <a:t>Three-Tier Architecture Separates Experience, Logic and Data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AD9B"/>
          </a:solidFill>
          <a:ln w="12700">
            <a:solidFill>
              <a:srgbClr val="0EAD9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4128" y="1298448"/>
            <a:ext cx="996696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4128" y="1298448"/>
            <a:ext cx="164592" cy="859536"/>
          </a:xfrm>
          <a:prstGeom prst="rect">
            <a:avLst/>
          </a:prstGeom>
          <a:solidFill>
            <a:srgbClr val="0EAD9B"/>
          </a:solidFill>
          <a:ln w="12700">
            <a:solidFill>
              <a:srgbClr val="0EAD9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17320" y="148132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Presentation tier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703320" y="1499616"/>
            <a:ext cx="6720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43B53"/>
                </a:solidFill>
              </a:rPr>
              <a:t>Browser UI for doctors, nurses, patients and receptionists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779008" y="2167128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27D98"/>
                </a:solidFill>
              </a:rPr>
              <a:t>↓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1024128" y="2624328"/>
            <a:ext cx="996696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24128" y="2624328"/>
            <a:ext cx="164592" cy="859536"/>
          </a:xfrm>
          <a:prstGeom prst="rect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17320" y="280720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Application tier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703320" y="2825496"/>
            <a:ext cx="6720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43B53"/>
                </a:solidFill>
              </a:rPr>
              <a:t>Cloud server: business logic, authentication, validation and RBAC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779008" y="3493008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27D98"/>
                </a:solidFill>
              </a:rPr>
              <a:t>↓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1024128" y="3950208"/>
            <a:ext cx="996696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24128" y="3950208"/>
            <a:ext cx="164592" cy="859536"/>
          </a:xfrm>
          <a:prstGeom prst="rect">
            <a:avLst/>
          </a:prstGeom>
          <a:solidFill>
            <a:srgbClr val="FF6B4A"/>
          </a:solidFill>
          <a:ln w="12700">
            <a:solidFill>
              <a:srgbClr val="FF6B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17320" y="413308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Data tier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703320" y="4151376"/>
            <a:ext cx="6720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43B53"/>
                </a:solidFill>
              </a:rPr>
              <a:t>Cloud database: patients, appointments, prescriptions and billing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035808" y="5486400"/>
            <a:ext cx="6035040" cy="274320"/>
          </a:xfrm>
          <a:prstGeom prst="roundRect">
            <a:avLst>
              <a:gd name="adj" fmla="val 23333"/>
            </a:avLst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08960" y="5554980"/>
            <a:ext cx="588873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FFFFFF"/>
                </a:solidFill>
              </a:rPr>
              <a:t>Security rule: client never accesses the database directly</a:t>
            </a:r>
            <a:endParaRPr lang="en-US" sz="6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0727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transition spd="med">
    <p:push dir="l"/>
  </p:transition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92608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EAD9B"/>
                </a:solidFill>
              </a:rPr>
              <a:t>PROJECT PLAN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2A43"/>
                </a:solidFill>
              </a:rPr>
              <a:t>Task 3 Locks the Final Plan, Report and Presentation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AD9B"/>
          </a:solidFill>
          <a:ln w="12700">
            <a:solidFill>
              <a:srgbClr val="0EAD9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3246120"/>
            <a:ext cx="9966960" cy="0"/>
          </a:xfrm>
          <a:prstGeom prst="line">
            <a:avLst/>
          </a:prstGeom>
          <a:noFill/>
          <a:ln w="25400">
            <a:solidFill>
              <a:srgbClr val="D9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993392"/>
            <a:ext cx="2194560" cy="530352"/>
          </a:xfrm>
          <a:prstGeom prst="roundRect">
            <a:avLst>
              <a:gd name="adj" fmla="val 10345"/>
            </a:avLst>
          </a:prstGeom>
          <a:solidFill>
            <a:srgbClr val="0EAD9B"/>
          </a:solidFill>
          <a:ln w="12700">
            <a:solidFill>
              <a:srgbClr val="0EAD9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2167128"/>
            <a:ext cx="19751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</a:rPr>
              <a:t>Project Plan</a:t>
            </a:r>
            <a:endParaRPr lang="en-US" sz="740" dirty="0"/>
          </a:p>
        </p:txBody>
      </p:sp>
      <p:sp>
        <p:nvSpPr>
          <p:cNvPr id="8" name="Shape 6"/>
          <p:cNvSpPr/>
          <p:nvPr/>
        </p:nvSpPr>
        <p:spPr>
          <a:xfrm>
            <a:off x="2898648" y="3072384"/>
            <a:ext cx="347472" cy="347472"/>
          </a:xfrm>
          <a:prstGeom prst="ellipse">
            <a:avLst/>
          </a:prstGeom>
          <a:solidFill>
            <a:srgbClr val="0EAD9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367588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A43"/>
                </a:solidFill>
              </a:rPr>
              <a:t>Task 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8680" y="3968496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27D98"/>
                </a:solidFill>
              </a:rPr>
              <a:t>24 Apr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852928" y="1993392"/>
            <a:ext cx="2788920" cy="530352"/>
          </a:xfrm>
          <a:prstGeom prst="roundRect">
            <a:avLst>
              <a:gd name="adj" fmla="val 10345"/>
            </a:avLst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62656" y="2167128"/>
            <a:ext cx="25694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</a:rPr>
              <a:t>Requirements + Design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5477256" y="3072384"/>
            <a:ext cx="347472" cy="347472"/>
          </a:xfrm>
          <a:prstGeom prst="ellipse">
            <a:avLst/>
          </a:prstGeom>
          <a:solidFill>
            <a:srgbClr val="1F5E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52928" y="3675888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A43"/>
                </a:solidFill>
              </a:rPr>
              <a:t>Task 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852928" y="3968496"/>
            <a:ext cx="2788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27D98"/>
                </a:solidFill>
              </a:rPr>
              <a:t>13 May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925312" y="1993392"/>
            <a:ext cx="2743200" cy="530352"/>
          </a:xfrm>
          <a:prstGeom prst="roundRect">
            <a:avLst>
              <a:gd name="adj" fmla="val 10345"/>
            </a:avLst>
          </a:prstGeom>
          <a:solidFill>
            <a:srgbClr val="FF6B4A"/>
          </a:solidFill>
          <a:ln w="12700">
            <a:solidFill>
              <a:srgbClr val="FF6B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0" y="2167128"/>
            <a:ext cx="25237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</a:rPr>
              <a:t>Final Report + Presentation</a:t>
            </a:r>
            <a:endParaRPr lang="en-US" sz="740" dirty="0"/>
          </a:p>
        </p:txBody>
      </p:sp>
      <p:sp>
        <p:nvSpPr>
          <p:cNvPr id="18" name="Shape 16"/>
          <p:cNvSpPr/>
          <p:nvPr/>
        </p:nvSpPr>
        <p:spPr>
          <a:xfrm>
            <a:off x="8503920" y="3072384"/>
            <a:ext cx="347472" cy="347472"/>
          </a:xfrm>
          <a:prstGeom prst="ellipse">
            <a:avLst/>
          </a:prstGeom>
          <a:solidFill>
            <a:srgbClr val="FF6B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25312" y="367588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A43"/>
                </a:solidFill>
              </a:rPr>
              <a:t>Task 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925312" y="396849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27D98"/>
                </a:solidFill>
              </a:rPr>
              <a:t>Mid-June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005840" y="5010912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Final milestone: merged PDF report, PowerPoint, evaluations and presentation delivery.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0727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transition spd="med">
    <p:fade/>
  </p:transition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92608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EAD9B"/>
                </a:solidFill>
              </a:rPr>
              <a:t>EXECUTION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2A43"/>
                </a:solidFill>
              </a:rPr>
              <a:t>Work Breakdown: 10.5 Weeks, 440 Hours, R66,000 Effort Budget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AD9B"/>
          </a:solidFill>
          <a:ln w="12700">
            <a:solidFill>
              <a:srgbClr val="0EAD9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234440"/>
            <a:ext cx="288036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1289304"/>
            <a:ext cx="27706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FFFFFF"/>
                </a:solidFill>
              </a:rPr>
              <a:t>Task</a:t>
            </a:r>
            <a:endParaRPr lang="en-US" sz="760" dirty="0"/>
          </a:p>
        </p:txBody>
      </p:sp>
      <p:sp>
        <p:nvSpPr>
          <p:cNvPr id="7" name="Shape 5"/>
          <p:cNvSpPr/>
          <p:nvPr/>
        </p:nvSpPr>
        <p:spPr>
          <a:xfrm>
            <a:off x="3593592" y="1234440"/>
            <a:ext cx="242316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48456" y="1289304"/>
            <a:ext cx="23134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FFFFFF"/>
                </a:solidFill>
              </a:rPr>
              <a:t>Owner</a:t>
            </a:r>
            <a:endParaRPr lang="en-US" sz="760" dirty="0"/>
          </a:p>
        </p:txBody>
      </p:sp>
      <p:sp>
        <p:nvSpPr>
          <p:cNvPr id="9" name="Shape 7"/>
          <p:cNvSpPr/>
          <p:nvPr/>
        </p:nvSpPr>
        <p:spPr>
          <a:xfrm>
            <a:off x="6016752" y="1234440"/>
            <a:ext cx="182880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71616" y="1289304"/>
            <a:ext cx="17190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FFFFFF"/>
                </a:solidFill>
              </a:rPr>
              <a:t>Duration</a:t>
            </a:r>
            <a:endParaRPr lang="en-US" sz="760" dirty="0"/>
          </a:p>
        </p:txBody>
      </p:sp>
      <p:sp>
        <p:nvSpPr>
          <p:cNvPr id="11" name="Shape 9"/>
          <p:cNvSpPr/>
          <p:nvPr/>
        </p:nvSpPr>
        <p:spPr>
          <a:xfrm>
            <a:off x="7845552" y="1234440"/>
            <a:ext cx="182880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00416" y="1289304"/>
            <a:ext cx="17190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FFFFFF"/>
                </a:solidFill>
              </a:rPr>
              <a:t>Cost</a:t>
            </a:r>
            <a:endParaRPr lang="en-US" sz="760" dirty="0"/>
          </a:p>
        </p:txBody>
      </p:sp>
      <p:sp>
        <p:nvSpPr>
          <p:cNvPr id="13" name="Shape 11"/>
          <p:cNvSpPr/>
          <p:nvPr/>
        </p:nvSpPr>
        <p:spPr>
          <a:xfrm>
            <a:off x="713232" y="1737360"/>
            <a:ext cx="2880360" cy="502920"/>
          </a:xfrm>
          <a:prstGeom prst="rect">
            <a:avLst/>
          </a:prstGeom>
          <a:solidFill>
            <a:srgbClr val="243B53"/>
          </a:solidFill>
          <a:ln w="7620">
            <a:solidFill>
              <a:srgbClr val="D9E2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8096" y="1792224"/>
            <a:ext cx="27706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243B53"/>
                </a:solidFill>
              </a:rPr>
              <a:t>Planning</a:t>
            </a:r>
            <a:endParaRPr lang="en-US" sz="760" dirty="0"/>
          </a:p>
        </p:txBody>
      </p:sp>
      <p:sp>
        <p:nvSpPr>
          <p:cNvPr id="15" name="Shape 13"/>
          <p:cNvSpPr/>
          <p:nvPr/>
        </p:nvSpPr>
        <p:spPr>
          <a:xfrm>
            <a:off x="3593592" y="1737360"/>
            <a:ext cx="2423160" cy="502920"/>
          </a:xfrm>
          <a:prstGeom prst="rect">
            <a:avLst/>
          </a:prstGeom>
          <a:solidFill>
            <a:srgbClr val="243B53"/>
          </a:solidFill>
          <a:ln w="7620">
            <a:solidFill>
              <a:srgbClr val="D9E2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48456" y="1792224"/>
            <a:ext cx="23134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243B53"/>
                </a:solidFill>
              </a:rPr>
              <a:t>Acazia</a:t>
            </a:r>
            <a:endParaRPr lang="en-US" sz="760" dirty="0"/>
          </a:p>
        </p:txBody>
      </p:sp>
      <p:sp>
        <p:nvSpPr>
          <p:cNvPr id="17" name="Shape 15"/>
          <p:cNvSpPr/>
          <p:nvPr/>
        </p:nvSpPr>
        <p:spPr>
          <a:xfrm>
            <a:off x="6016752" y="1737360"/>
            <a:ext cx="1828800" cy="502920"/>
          </a:xfrm>
          <a:prstGeom prst="rect">
            <a:avLst/>
          </a:prstGeom>
          <a:solidFill>
            <a:srgbClr val="243B53"/>
          </a:solidFill>
          <a:ln w="7620">
            <a:solidFill>
              <a:srgbClr val="D9E2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71616" y="1792224"/>
            <a:ext cx="17190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243B53"/>
                </a:solidFill>
              </a:rPr>
              <a:t>1 wk</a:t>
            </a:r>
            <a:endParaRPr lang="en-US" sz="760" dirty="0"/>
          </a:p>
        </p:txBody>
      </p:sp>
      <p:sp>
        <p:nvSpPr>
          <p:cNvPr id="19" name="Shape 17"/>
          <p:cNvSpPr/>
          <p:nvPr/>
        </p:nvSpPr>
        <p:spPr>
          <a:xfrm>
            <a:off x="7845552" y="1737360"/>
            <a:ext cx="1828800" cy="502920"/>
          </a:xfrm>
          <a:prstGeom prst="rect">
            <a:avLst/>
          </a:prstGeom>
          <a:solidFill>
            <a:srgbClr val="243B53"/>
          </a:solidFill>
          <a:ln w="7620">
            <a:solidFill>
              <a:srgbClr val="D9E2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00416" y="1792224"/>
            <a:ext cx="17190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243B53"/>
                </a:solidFill>
              </a:rPr>
              <a:t>R6,000</a:t>
            </a:r>
            <a:endParaRPr lang="en-US" sz="760" dirty="0"/>
          </a:p>
        </p:txBody>
      </p:sp>
      <p:sp>
        <p:nvSpPr>
          <p:cNvPr id="21" name="Shape 19"/>
          <p:cNvSpPr/>
          <p:nvPr/>
        </p:nvSpPr>
        <p:spPr>
          <a:xfrm>
            <a:off x="713232" y="2240280"/>
            <a:ext cx="2880360" cy="502920"/>
          </a:xfrm>
          <a:prstGeom prst="rect">
            <a:avLst/>
          </a:prstGeom>
          <a:solidFill>
            <a:srgbClr val="243B53"/>
          </a:solidFill>
          <a:ln w="7620">
            <a:solidFill>
              <a:srgbClr val="D9E2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2295144"/>
            <a:ext cx="27706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243B53"/>
                </a:solidFill>
              </a:rPr>
              <a:t>Requirements</a:t>
            </a:r>
            <a:endParaRPr lang="en-US" sz="760" dirty="0"/>
          </a:p>
        </p:txBody>
      </p:sp>
      <p:sp>
        <p:nvSpPr>
          <p:cNvPr id="23" name="Shape 21"/>
          <p:cNvSpPr/>
          <p:nvPr/>
        </p:nvSpPr>
        <p:spPr>
          <a:xfrm>
            <a:off x="3593592" y="2240280"/>
            <a:ext cx="2423160" cy="502920"/>
          </a:xfrm>
          <a:prstGeom prst="rect">
            <a:avLst/>
          </a:prstGeom>
          <a:solidFill>
            <a:srgbClr val="243B53"/>
          </a:solidFill>
          <a:ln w="7620">
            <a:solidFill>
              <a:srgbClr val="D9E2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48456" y="2295144"/>
            <a:ext cx="23134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243B53"/>
                </a:solidFill>
              </a:rPr>
              <a:t>Junior</a:t>
            </a:r>
            <a:endParaRPr lang="en-US" sz="760" dirty="0"/>
          </a:p>
        </p:txBody>
      </p:sp>
      <p:sp>
        <p:nvSpPr>
          <p:cNvPr id="25" name="Shape 23"/>
          <p:cNvSpPr/>
          <p:nvPr/>
        </p:nvSpPr>
        <p:spPr>
          <a:xfrm>
            <a:off x="6016752" y="2240280"/>
            <a:ext cx="1828800" cy="502920"/>
          </a:xfrm>
          <a:prstGeom prst="rect">
            <a:avLst/>
          </a:prstGeom>
          <a:solidFill>
            <a:srgbClr val="243B53"/>
          </a:solidFill>
          <a:ln w="7620">
            <a:solidFill>
              <a:srgbClr val="D9E2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71616" y="2295144"/>
            <a:ext cx="17190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243B53"/>
                </a:solidFill>
              </a:rPr>
              <a:t>1.5 wks</a:t>
            </a:r>
            <a:endParaRPr lang="en-US" sz="760" dirty="0"/>
          </a:p>
        </p:txBody>
      </p:sp>
      <p:sp>
        <p:nvSpPr>
          <p:cNvPr id="27" name="Shape 25"/>
          <p:cNvSpPr/>
          <p:nvPr/>
        </p:nvSpPr>
        <p:spPr>
          <a:xfrm>
            <a:off x="7845552" y="2240280"/>
            <a:ext cx="1828800" cy="502920"/>
          </a:xfrm>
          <a:prstGeom prst="rect">
            <a:avLst/>
          </a:prstGeom>
          <a:solidFill>
            <a:srgbClr val="243B53"/>
          </a:solidFill>
          <a:ln w="7620">
            <a:solidFill>
              <a:srgbClr val="D9E2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900416" y="2295144"/>
            <a:ext cx="17190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243B53"/>
                </a:solidFill>
              </a:rPr>
              <a:t>R9,000</a:t>
            </a:r>
            <a:endParaRPr lang="en-US" sz="760" dirty="0"/>
          </a:p>
        </p:txBody>
      </p:sp>
      <p:sp>
        <p:nvSpPr>
          <p:cNvPr id="29" name="Shape 27"/>
          <p:cNvSpPr/>
          <p:nvPr/>
        </p:nvSpPr>
        <p:spPr>
          <a:xfrm>
            <a:off x="713232" y="2743200"/>
            <a:ext cx="2880360" cy="502920"/>
          </a:xfrm>
          <a:prstGeom prst="rect">
            <a:avLst/>
          </a:prstGeom>
          <a:solidFill>
            <a:srgbClr val="243B53"/>
          </a:solidFill>
          <a:ln w="7620">
            <a:solidFill>
              <a:srgbClr val="D9E2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8096" y="2798064"/>
            <a:ext cx="27706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243B53"/>
                </a:solidFill>
              </a:rPr>
              <a:t>System design</a:t>
            </a:r>
            <a:endParaRPr lang="en-US" sz="760" dirty="0"/>
          </a:p>
        </p:txBody>
      </p:sp>
      <p:sp>
        <p:nvSpPr>
          <p:cNvPr id="31" name="Shape 29"/>
          <p:cNvSpPr/>
          <p:nvPr/>
        </p:nvSpPr>
        <p:spPr>
          <a:xfrm>
            <a:off x="3593592" y="2743200"/>
            <a:ext cx="2423160" cy="502920"/>
          </a:xfrm>
          <a:prstGeom prst="rect">
            <a:avLst/>
          </a:prstGeom>
          <a:solidFill>
            <a:srgbClr val="243B53"/>
          </a:solidFill>
          <a:ln w="7620">
            <a:solidFill>
              <a:srgbClr val="D9E2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48456" y="2798064"/>
            <a:ext cx="23134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243B53"/>
                </a:solidFill>
              </a:rPr>
              <a:t>Liyema</a:t>
            </a:r>
            <a:endParaRPr lang="en-US" sz="760" dirty="0"/>
          </a:p>
        </p:txBody>
      </p:sp>
      <p:sp>
        <p:nvSpPr>
          <p:cNvPr id="33" name="Shape 31"/>
          <p:cNvSpPr/>
          <p:nvPr/>
        </p:nvSpPr>
        <p:spPr>
          <a:xfrm>
            <a:off x="6016752" y="2743200"/>
            <a:ext cx="1828800" cy="502920"/>
          </a:xfrm>
          <a:prstGeom prst="rect">
            <a:avLst/>
          </a:prstGeom>
          <a:solidFill>
            <a:srgbClr val="243B53"/>
          </a:solidFill>
          <a:ln w="7620">
            <a:solidFill>
              <a:srgbClr val="D9E2E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71616" y="2798064"/>
            <a:ext cx="17190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243B53"/>
                </a:solidFill>
              </a:rPr>
              <a:t>1.5 wks</a:t>
            </a:r>
            <a:endParaRPr lang="en-US" sz="760" dirty="0"/>
          </a:p>
        </p:txBody>
      </p:sp>
      <p:sp>
        <p:nvSpPr>
          <p:cNvPr id="35" name="Shape 33"/>
          <p:cNvSpPr/>
          <p:nvPr/>
        </p:nvSpPr>
        <p:spPr>
          <a:xfrm>
            <a:off x="7845552" y="2743200"/>
            <a:ext cx="1828800" cy="502920"/>
          </a:xfrm>
          <a:prstGeom prst="rect">
            <a:avLst/>
          </a:prstGeom>
          <a:solidFill>
            <a:srgbClr val="243B53"/>
          </a:solidFill>
          <a:ln w="7620">
            <a:solidFill>
              <a:srgbClr val="D9E2E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900416" y="2798064"/>
            <a:ext cx="17190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243B53"/>
                </a:solidFill>
              </a:rPr>
              <a:t>R9,000</a:t>
            </a:r>
            <a:endParaRPr lang="en-US" sz="760" dirty="0"/>
          </a:p>
        </p:txBody>
      </p:sp>
      <p:sp>
        <p:nvSpPr>
          <p:cNvPr id="37" name="Shape 35"/>
          <p:cNvSpPr/>
          <p:nvPr/>
        </p:nvSpPr>
        <p:spPr>
          <a:xfrm>
            <a:off x="713232" y="3246120"/>
            <a:ext cx="2880360" cy="502920"/>
          </a:xfrm>
          <a:prstGeom prst="rect">
            <a:avLst/>
          </a:prstGeom>
          <a:solidFill>
            <a:srgbClr val="243B53"/>
          </a:solidFill>
          <a:ln w="7620">
            <a:solidFill>
              <a:srgbClr val="D9E2E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68096" y="3300984"/>
            <a:ext cx="27706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243B53"/>
                </a:solidFill>
              </a:rPr>
              <a:t>Frontend + Backend</a:t>
            </a:r>
            <a:endParaRPr lang="en-US" sz="760" dirty="0"/>
          </a:p>
        </p:txBody>
      </p:sp>
      <p:sp>
        <p:nvSpPr>
          <p:cNvPr id="39" name="Shape 37"/>
          <p:cNvSpPr/>
          <p:nvPr/>
        </p:nvSpPr>
        <p:spPr>
          <a:xfrm>
            <a:off x="3593592" y="3246120"/>
            <a:ext cx="2423160" cy="502920"/>
          </a:xfrm>
          <a:prstGeom prst="rect">
            <a:avLst/>
          </a:prstGeom>
          <a:solidFill>
            <a:srgbClr val="243B53"/>
          </a:solidFill>
          <a:ln w="7620">
            <a:solidFill>
              <a:srgbClr val="D9E2E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48456" y="3300984"/>
            <a:ext cx="23134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243B53"/>
                </a:solidFill>
              </a:rPr>
              <a:t>Liyema + Junior</a:t>
            </a:r>
            <a:endParaRPr lang="en-US" sz="760" dirty="0"/>
          </a:p>
        </p:txBody>
      </p:sp>
      <p:sp>
        <p:nvSpPr>
          <p:cNvPr id="41" name="Shape 39"/>
          <p:cNvSpPr/>
          <p:nvPr/>
        </p:nvSpPr>
        <p:spPr>
          <a:xfrm>
            <a:off x="6016752" y="3246120"/>
            <a:ext cx="1828800" cy="502920"/>
          </a:xfrm>
          <a:prstGeom prst="rect">
            <a:avLst/>
          </a:prstGeom>
          <a:solidFill>
            <a:srgbClr val="243B53"/>
          </a:solidFill>
          <a:ln w="7620">
            <a:solidFill>
              <a:srgbClr val="D9E2E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071616" y="3300984"/>
            <a:ext cx="17190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243B53"/>
                </a:solidFill>
              </a:rPr>
              <a:t>4 wks</a:t>
            </a:r>
            <a:endParaRPr lang="en-US" sz="760" dirty="0"/>
          </a:p>
        </p:txBody>
      </p:sp>
      <p:sp>
        <p:nvSpPr>
          <p:cNvPr id="43" name="Shape 41"/>
          <p:cNvSpPr/>
          <p:nvPr/>
        </p:nvSpPr>
        <p:spPr>
          <a:xfrm>
            <a:off x="7845552" y="3246120"/>
            <a:ext cx="1828800" cy="502920"/>
          </a:xfrm>
          <a:prstGeom prst="rect">
            <a:avLst/>
          </a:prstGeom>
          <a:solidFill>
            <a:srgbClr val="243B53"/>
          </a:solidFill>
          <a:ln w="7620">
            <a:solidFill>
              <a:srgbClr val="D9E2E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900416" y="3300984"/>
            <a:ext cx="17190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243B53"/>
                </a:solidFill>
              </a:rPr>
              <a:t>R24,000</a:t>
            </a:r>
            <a:endParaRPr lang="en-US" sz="760" dirty="0"/>
          </a:p>
        </p:txBody>
      </p:sp>
      <p:sp>
        <p:nvSpPr>
          <p:cNvPr id="45" name="Shape 43"/>
          <p:cNvSpPr/>
          <p:nvPr/>
        </p:nvSpPr>
        <p:spPr>
          <a:xfrm>
            <a:off x="713232" y="3749040"/>
            <a:ext cx="2880360" cy="502920"/>
          </a:xfrm>
          <a:prstGeom prst="rect">
            <a:avLst/>
          </a:prstGeom>
          <a:solidFill>
            <a:srgbClr val="243B53"/>
          </a:solidFill>
          <a:ln w="7620">
            <a:solidFill>
              <a:srgbClr val="D9E2E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68096" y="3803904"/>
            <a:ext cx="27706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243B53"/>
                </a:solidFill>
              </a:rPr>
              <a:t>Testing + Deploy</a:t>
            </a:r>
            <a:endParaRPr lang="en-US" sz="760" dirty="0"/>
          </a:p>
        </p:txBody>
      </p:sp>
      <p:sp>
        <p:nvSpPr>
          <p:cNvPr id="47" name="Shape 45"/>
          <p:cNvSpPr/>
          <p:nvPr/>
        </p:nvSpPr>
        <p:spPr>
          <a:xfrm>
            <a:off x="3593592" y="3749040"/>
            <a:ext cx="2423160" cy="502920"/>
          </a:xfrm>
          <a:prstGeom prst="rect">
            <a:avLst/>
          </a:prstGeom>
          <a:solidFill>
            <a:srgbClr val="243B53"/>
          </a:solidFill>
          <a:ln w="7620">
            <a:solidFill>
              <a:srgbClr val="D9E2E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48456" y="3803904"/>
            <a:ext cx="23134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243B53"/>
                </a:solidFill>
              </a:rPr>
              <a:t>All / Acazia</a:t>
            </a:r>
            <a:endParaRPr lang="en-US" sz="760" dirty="0"/>
          </a:p>
        </p:txBody>
      </p:sp>
      <p:sp>
        <p:nvSpPr>
          <p:cNvPr id="49" name="Shape 47"/>
          <p:cNvSpPr/>
          <p:nvPr/>
        </p:nvSpPr>
        <p:spPr>
          <a:xfrm>
            <a:off x="6016752" y="3749040"/>
            <a:ext cx="1828800" cy="502920"/>
          </a:xfrm>
          <a:prstGeom prst="rect">
            <a:avLst/>
          </a:prstGeom>
          <a:solidFill>
            <a:srgbClr val="243B53"/>
          </a:solidFill>
          <a:ln w="7620">
            <a:solidFill>
              <a:srgbClr val="D9E2E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071616" y="3803904"/>
            <a:ext cx="17190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243B53"/>
                </a:solidFill>
              </a:rPr>
              <a:t>1.5 wks</a:t>
            </a:r>
            <a:endParaRPr lang="en-US" sz="760" dirty="0"/>
          </a:p>
        </p:txBody>
      </p:sp>
      <p:sp>
        <p:nvSpPr>
          <p:cNvPr id="51" name="Shape 49"/>
          <p:cNvSpPr/>
          <p:nvPr/>
        </p:nvSpPr>
        <p:spPr>
          <a:xfrm>
            <a:off x="7845552" y="3749040"/>
            <a:ext cx="1828800" cy="502920"/>
          </a:xfrm>
          <a:prstGeom prst="rect">
            <a:avLst/>
          </a:prstGeom>
          <a:solidFill>
            <a:srgbClr val="243B53"/>
          </a:solidFill>
          <a:ln w="7620">
            <a:solidFill>
              <a:srgbClr val="D9E2E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900416" y="3803904"/>
            <a:ext cx="17190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243B53"/>
                </a:solidFill>
              </a:rPr>
              <a:t>R12,000</a:t>
            </a:r>
            <a:endParaRPr lang="en-US" sz="760" dirty="0"/>
          </a:p>
        </p:txBody>
      </p:sp>
      <p:sp>
        <p:nvSpPr>
          <p:cNvPr id="53" name="Shape 51"/>
          <p:cNvSpPr/>
          <p:nvPr/>
        </p:nvSpPr>
        <p:spPr>
          <a:xfrm>
            <a:off x="713232" y="4251960"/>
            <a:ext cx="2880360" cy="502920"/>
          </a:xfrm>
          <a:prstGeom prst="rect">
            <a:avLst/>
          </a:prstGeom>
          <a:solidFill>
            <a:srgbClr val="243B53"/>
          </a:solidFill>
          <a:ln w="7620">
            <a:solidFill>
              <a:srgbClr val="D9E2E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68096" y="4306824"/>
            <a:ext cx="27706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243B53"/>
                </a:solidFill>
              </a:rPr>
              <a:t>Total</a:t>
            </a:r>
            <a:endParaRPr lang="en-US" sz="760" dirty="0"/>
          </a:p>
        </p:txBody>
      </p:sp>
      <p:sp>
        <p:nvSpPr>
          <p:cNvPr id="55" name="Shape 53"/>
          <p:cNvSpPr/>
          <p:nvPr/>
        </p:nvSpPr>
        <p:spPr>
          <a:xfrm>
            <a:off x="3593592" y="4251960"/>
            <a:ext cx="2423160" cy="502920"/>
          </a:xfrm>
          <a:prstGeom prst="rect">
            <a:avLst/>
          </a:prstGeom>
          <a:solidFill>
            <a:srgbClr val="243B53"/>
          </a:solidFill>
          <a:ln w="7620">
            <a:solidFill>
              <a:srgbClr val="D9E2E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648456" y="4306824"/>
            <a:ext cx="23134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243B53"/>
                </a:solidFill>
              </a:rPr>
              <a:t>Team</a:t>
            </a:r>
            <a:endParaRPr lang="en-US" sz="760" dirty="0"/>
          </a:p>
        </p:txBody>
      </p:sp>
      <p:sp>
        <p:nvSpPr>
          <p:cNvPr id="57" name="Shape 55"/>
          <p:cNvSpPr/>
          <p:nvPr/>
        </p:nvSpPr>
        <p:spPr>
          <a:xfrm>
            <a:off x="6016752" y="4251960"/>
            <a:ext cx="1828800" cy="502920"/>
          </a:xfrm>
          <a:prstGeom prst="rect">
            <a:avLst/>
          </a:prstGeom>
          <a:solidFill>
            <a:srgbClr val="243B53"/>
          </a:solidFill>
          <a:ln w="7620">
            <a:solidFill>
              <a:srgbClr val="D9E2E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071616" y="4306824"/>
            <a:ext cx="17190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243B53"/>
                </a:solidFill>
              </a:rPr>
              <a:t>10.5 wks</a:t>
            </a:r>
            <a:endParaRPr lang="en-US" sz="760" dirty="0"/>
          </a:p>
        </p:txBody>
      </p:sp>
      <p:sp>
        <p:nvSpPr>
          <p:cNvPr id="59" name="Shape 57"/>
          <p:cNvSpPr/>
          <p:nvPr/>
        </p:nvSpPr>
        <p:spPr>
          <a:xfrm>
            <a:off x="7845552" y="4251960"/>
            <a:ext cx="1828800" cy="502920"/>
          </a:xfrm>
          <a:prstGeom prst="rect">
            <a:avLst/>
          </a:prstGeom>
          <a:solidFill>
            <a:srgbClr val="243B53"/>
          </a:solidFill>
          <a:ln w="7620">
            <a:solidFill>
              <a:srgbClr val="D9E2E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900416" y="4306824"/>
            <a:ext cx="17190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243B53"/>
                </a:solidFill>
              </a:rPr>
              <a:t>R66,000</a:t>
            </a:r>
            <a:endParaRPr lang="en-US" sz="760" dirty="0"/>
          </a:p>
        </p:txBody>
      </p:sp>
      <p:sp>
        <p:nvSpPr>
          <p:cNvPr id="61" name="Text 59"/>
          <p:cNvSpPr/>
          <p:nvPr/>
        </p:nvSpPr>
        <p:spPr>
          <a:xfrm>
            <a:off x="9400032" y="146304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EAD9B"/>
                </a:solidFill>
              </a:rPr>
              <a:t>440h</a:t>
            </a:r>
            <a:endParaRPr lang="en-US" sz="2300" dirty="0"/>
          </a:p>
        </p:txBody>
      </p:sp>
      <p:sp>
        <p:nvSpPr>
          <p:cNvPr id="62" name="Text 60"/>
          <p:cNvSpPr/>
          <p:nvPr/>
        </p:nvSpPr>
        <p:spPr>
          <a:xfrm>
            <a:off x="9400032" y="187452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27D98"/>
                </a:solidFill>
              </a:rPr>
              <a:t>total effort</a:t>
            </a:r>
            <a:endParaRPr lang="en-US" sz="740" dirty="0"/>
          </a:p>
        </p:txBody>
      </p:sp>
      <p:sp>
        <p:nvSpPr>
          <p:cNvPr id="63" name="Text 61"/>
          <p:cNvSpPr/>
          <p:nvPr/>
        </p:nvSpPr>
        <p:spPr>
          <a:xfrm>
            <a:off x="9400032" y="258775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6B4A"/>
                </a:solidFill>
              </a:rPr>
              <a:t>R66k</a:t>
            </a:r>
            <a:endParaRPr lang="en-US" sz="2300" dirty="0"/>
          </a:p>
        </p:txBody>
      </p:sp>
      <p:sp>
        <p:nvSpPr>
          <p:cNvPr id="64" name="Text 62"/>
          <p:cNvSpPr/>
          <p:nvPr/>
        </p:nvSpPr>
        <p:spPr>
          <a:xfrm>
            <a:off x="9400032" y="299923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27D98"/>
                </a:solidFill>
              </a:rPr>
              <a:t>budget</a:t>
            </a:r>
            <a:endParaRPr lang="en-US" sz="740" dirty="0"/>
          </a:p>
        </p:txBody>
      </p:sp>
      <p:sp>
        <p:nvSpPr>
          <p:cNvPr id="65" name="Text 63"/>
          <p:cNvSpPr/>
          <p:nvPr/>
        </p:nvSpPr>
        <p:spPr>
          <a:xfrm>
            <a:off x="9400032" y="3712464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F5EFF"/>
                </a:solidFill>
              </a:rPr>
              <a:t>10.5</a:t>
            </a:r>
            <a:endParaRPr lang="en-US" sz="2300" dirty="0"/>
          </a:p>
        </p:txBody>
      </p:sp>
      <p:sp>
        <p:nvSpPr>
          <p:cNvPr id="66" name="Text 64"/>
          <p:cNvSpPr/>
          <p:nvPr/>
        </p:nvSpPr>
        <p:spPr>
          <a:xfrm>
            <a:off x="9400032" y="4123944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27D98"/>
                </a:solidFill>
              </a:rPr>
              <a:t>weeks</a:t>
            </a:r>
            <a:endParaRPr lang="en-US" sz="7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0727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transition spd="med">
    <p:push dir="l"/>
  </p:transition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92608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EAD9B"/>
                </a:solidFill>
              </a:rPr>
              <a:t>RISK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2A43"/>
                </a:solidFill>
              </a:rPr>
              <a:t>Risks Are Managed Through Controls, Buffers and Ownership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AD9B"/>
          </a:solidFill>
          <a:ln w="12700">
            <a:solidFill>
              <a:srgbClr val="0EAD9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170432"/>
            <a:ext cx="274320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225296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b="1" dirty="0">
                <a:solidFill>
                  <a:srgbClr val="FFFFFF"/>
                </a:solidFill>
              </a:rPr>
              <a:t>Risk</a:t>
            </a:r>
            <a:endParaRPr lang="en-US" sz="740" dirty="0"/>
          </a:p>
        </p:txBody>
      </p:sp>
      <p:sp>
        <p:nvSpPr>
          <p:cNvPr id="7" name="Shape 5"/>
          <p:cNvSpPr/>
          <p:nvPr/>
        </p:nvSpPr>
        <p:spPr>
          <a:xfrm>
            <a:off x="3401568" y="1170432"/>
            <a:ext cx="141732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56432" y="1225296"/>
            <a:ext cx="1307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b="1" dirty="0">
                <a:solidFill>
                  <a:srgbClr val="FFFFFF"/>
                </a:solidFill>
              </a:rPr>
              <a:t>Probability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4818888" y="1170432"/>
            <a:ext cx="141732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73752" y="1225296"/>
            <a:ext cx="1307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b="1" dirty="0">
                <a:solidFill>
                  <a:srgbClr val="FFFFFF"/>
                </a:solidFill>
              </a:rPr>
              <a:t>Impact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6236208" y="1170432"/>
            <a:ext cx="416052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91072" y="1225296"/>
            <a:ext cx="4050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b="1" dirty="0">
                <a:solidFill>
                  <a:srgbClr val="FFFFFF"/>
                </a:solidFill>
              </a:rPr>
              <a:t>Mitigation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658368" y="1737360"/>
            <a:ext cx="2743200" cy="566928"/>
          </a:xfrm>
          <a:prstGeom prst="rect">
            <a:avLst/>
          </a:prstGeom>
          <a:solidFill>
            <a:srgbClr val="243B53"/>
          </a:solidFill>
          <a:ln w="7620">
            <a:solidFill>
              <a:srgbClr val="D9E2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1792224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43B53"/>
                </a:solidFill>
              </a:rPr>
              <a:t>Team member leaves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3401568" y="1737360"/>
            <a:ext cx="1417320" cy="566928"/>
          </a:xfrm>
          <a:prstGeom prst="rect">
            <a:avLst/>
          </a:prstGeom>
          <a:solidFill>
            <a:srgbClr val="243B53"/>
          </a:solidFill>
          <a:ln w="7620">
            <a:solidFill>
              <a:srgbClr val="D9E2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56432" y="1792224"/>
            <a:ext cx="1307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43B53"/>
                </a:solidFill>
              </a:rPr>
              <a:t>Low</a:t>
            </a:r>
            <a:endParaRPr lang="en-US" sz="740" dirty="0"/>
          </a:p>
        </p:txBody>
      </p:sp>
      <p:sp>
        <p:nvSpPr>
          <p:cNvPr id="17" name="Shape 15"/>
          <p:cNvSpPr/>
          <p:nvPr/>
        </p:nvSpPr>
        <p:spPr>
          <a:xfrm>
            <a:off x="4818888" y="1737360"/>
            <a:ext cx="1417320" cy="566928"/>
          </a:xfrm>
          <a:prstGeom prst="rect">
            <a:avLst/>
          </a:prstGeom>
          <a:solidFill>
            <a:srgbClr val="243B53"/>
          </a:solidFill>
          <a:ln w="7620">
            <a:solidFill>
              <a:srgbClr val="D9E2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73752" y="1792224"/>
            <a:ext cx="1307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43B53"/>
                </a:solidFill>
              </a:rPr>
              <a:t>High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236208" y="1737360"/>
            <a:ext cx="4160520" cy="566928"/>
          </a:xfrm>
          <a:prstGeom prst="rect">
            <a:avLst/>
          </a:prstGeom>
          <a:solidFill>
            <a:srgbClr val="243B53"/>
          </a:solidFill>
          <a:ln w="7620">
            <a:solidFill>
              <a:srgbClr val="D9E2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91072" y="1792224"/>
            <a:ext cx="4050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43B53"/>
                </a:solidFill>
              </a:rPr>
              <a:t>Cross-train and document work</a:t>
            </a:r>
            <a:endParaRPr lang="en-US" sz="740" dirty="0"/>
          </a:p>
        </p:txBody>
      </p:sp>
      <p:sp>
        <p:nvSpPr>
          <p:cNvPr id="21" name="Shape 19"/>
          <p:cNvSpPr/>
          <p:nvPr/>
        </p:nvSpPr>
        <p:spPr>
          <a:xfrm>
            <a:off x="658368" y="2304288"/>
            <a:ext cx="2743200" cy="566928"/>
          </a:xfrm>
          <a:prstGeom prst="rect">
            <a:avLst/>
          </a:prstGeom>
          <a:solidFill>
            <a:srgbClr val="243B53"/>
          </a:solidFill>
          <a:ln w="7620">
            <a:solidFill>
              <a:srgbClr val="D9E2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" y="2359152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43B53"/>
                </a:solidFill>
              </a:rPr>
              <a:t>Behind schedule</a:t>
            </a:r>
            <a:endParaRPr lang="en-US" sz="740" dirty="0"/>
          </a:p>
        </p:txBody>
      </p:sp>
      <p:sp>
        <p:nvSpPr>
          <p:cNvPr id="23" name="Shape 21"/>
          <p:cNvSpPr/>
          <p:nvPr/>
        </p:nvSpPr>
        <p:spPr>
          <a:xfrm>
            <a:off x="3401568" y="2304288"/>
            <a:ext cx="1417320" cy="566928"/>
          </a:xfrm>
          <a:prstGeom prst="rect">
            <a:avLst/>
          </a:prstGeom>
          <a:solidFill>
            <a:srgbClr val="243B53"/>
          </a:solidFill>
          <a:ln w="7620">
            <a:solidFill>
              <a:srgbClr val="D9E2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56432" y="2359152"/>
            <a:ext cx="1307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43B53"/>
                </a:solidFill>
              </a:rPr>
              <a:t>Medium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4818888" y="2304288"/>
            <a:ext cx="1417320" cy="566928"/>
          </a:xfrm>
          <a:prstGeom prst="rect">
            <a:avLst/>
          </a:prstGeom>
          <a:solidFill>
            <a:srgbClr val="243B53"/>
          </a:solidFill>
          <a:ln w="7620">
            <a:solidFill>
              <a:srgbClr val="D9E2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73752" y="2359152"/>
            <a:ext cx="1307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43B53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Shape 25"/>
          <p:cNvSpPr/>
          <p:nvPr/>
        </p:nvSpPr>
        <p:spPr>
          <a:xfrm>
            <a:off x="6236208" y="2304288"/>
            <a:ext cx="4160520" cy="566928"/>
          </a:xfrm>
          <a:prstGeom prst="rect">
            <a:avLst/>
          </a:prstGeom>
          <a:solidFill>
            <a:srgbClr val="243B53"/>
          </a:solidFill>
          <a:ln w="7620">
            <a:solidFill>
              <a:srgbClr val="D9E2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91072" y="2359152"/>
            <a:ext cx="4050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43B53"/>
                </a:solidFill>
              </a:rPr>
              <a:t>Buffer time + weekly checks</a:t>
            </a:r>
            <a:endParaRPr lang="en-US" sz="740" dirty="0"/>
          </a:p>
        </p:txBody>
      </p:sp>
      <p:sp>
        <p:nvSpPr>
          <p:cNvPr id="29" name="Shape 27"/>
          <p:cNvSpPr/>
          <p:nvPr/>
        </p:nvSpPr>
        <p:spPr>
          <a:xfrm>
            <a:off x="658368" y="2871216"/>
            <a:ext cx="2743200" cy="566928"/>
          </a:xfrm>
          <a:prstGeom prst="rect">
            <a:avLst/>
          </a:prstGeom>
          <a:solidFill>
            <a:srgbClr val="243B53"/>
          </a:solidFill>
          <a:ln w="7620">
            <a:solidFill>
              <a:srgbClr val="D9E2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3232" y="2926080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43B53"/>
                </a:solidFill>
              </a:rPr>
              <a:t>Security breach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3401568" y="2871216"/>
            <a:ext cx="1417320" cy="566928"/>
          </a:xfrm>
          <a:prstGeom prst="rect">
            <a:avLst/>
          </a:prstGeom>
          <a:solidFill>
            <a:srgbClr val="243B53"/>
          </a:solidFill>
          <a:ln w="7620">
            <a:solidFill>
              <a:srgbClr val="D9E2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56432" y="2926080"/>
            <a:ext cx="1307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43B53"/>
                </a:solidFill>
              </a:rPr>
              <a:t>Low</a:t>
            </a:r>
            <a:endParaRPr lang="en-US" sz="740" dirty="0"/>
          </a:p>
        </p:txBody>
      </p:sp>
      <p:sp>
        <p:nvSpPr>
          <p:cNvPr id="33" name="Shape 31"/>
          <p:cNvSpPr/>
          <p:nvPr/>
        </p:nvSpPr>
        <p:spPr>
          <a:xfrm>
            <a:off x="4818888" y="2871216"/>
            <a:ext cx="1417320" cy="566928"/>
          </a:xfrm>
          <a:prstGeom prst="rect">
            <a:avLst/>
          </a:prstGeom>
          <a:solidFill>
            <a:srgbClr val="243B53"/>
          </a:solidFill>
          <a:ln w="7620">
            <a:solidFill>
              <a:srgbClr val="D9E2E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73752" y="2926080"/>
            <a:ext cx="1307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43B53"/>
                </a:solidFill>
              </a:rPr>
              <a:t>Very high</a:t>
            </a:r>
            <a:endParaRPr lang="en-US" sz="740" dirty="0"/>
          </a:p>
        </p:txBody>
      </p:sp>
      <p:sp>
        <p:nvSpPr>
          <p:cNvPr id="35" name="Shape 33"/>
          <p:cNvSpPr/>
          <p:nvPr/>
        </p:nvSpPr>
        <p:spPr>
          <a:xfrm>
            <a:off x="6236208" y="2871216"/>
            <a:ext cx="4160520" cy="566928"/>
          </a:xfrm>
          <a:prstGeom prst="rect">
            <a:avLst/>
          </a:prstGeom>
          <a:solidFill>
            <a:srgbClr val="243B53"/>
          </a:solidFill>
          <a:ln w="7620">
            <a:solidFill>
              <a:srgbClr val="D9E2E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91072" y="2926080"/>
            <a:ext cx="4050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43B53"/>
                </a:solidFill>
              </a:rPr>
              <a:t>RBAC, encryption, audit logs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658368" y="3438144"/>
            <a:ext cx="2743200" cy="566928"/>
          </a:xfrm>
          <a:prstGeom prst="rect">
            <a:avLst/>
          </a:prstGeom>
          <a:solidFill>
            <a:srgbClr val="243B53"/>
          </a:solidFill>
          <a:ln w="7620">
            <a:solidFill>
              <a:srgbClr val="D9E2E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3232" y="3493008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43B53"/>
                </a:solidFill>
              </a:rPr>
              <a:t>Skill gaps</a:t>
            </a:r>
            <a:endParaRPr lang="en-US" sz="740" dirty="0"/>
          </a:p>
        </p:txBody>
      </p:sp>
      <p:sp>
        <p:nvSpPr>
          <p:cNvPr id="39" name="Shape 37"/>
          <p:cNvSpPr/>
          <p:nvPr/>
        </p:nvSpPr>
        <p:spPr>
          <a:xfrm>
            <a:off x="3401568" y="3438144"/>
            <a:ext cx="1417320" cy="566928"/>
          </a:xfrm>
          <a:prstGeom prst="rect">
            <a:avLst/>
          </a:prstGeom>
          <a:solidFill>
            <a:srgbClr val="243B53"/>
          </a:solidFill>
          <a:ln w="7620">
            <a:solidFill>
              <a:srgbClr val="D9E2E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56432" y="3493008"/>
            <a:ext cx="1307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43B53"/>
                </a:solidFill>
              </a:rPr>
              <a:t>Medium</a:t>
            </a:r>
            <a:endParaRPr lang="en-US" sz="740" dirty="0"/>
          </a:p>
        </p:txBody>
      </p:sp>
      <p:sp>
        <p:nvSpPr>
          <p:cNvPr id="41" name="Shape 39"/>
          <p:cNvSpPr/>
          <p:nvPr/>
        </p:nvSpPr>
        <p:spPr>
          <a:xfrm>
            <a:off x="4818888" y="3438144"/>
            <a:ext cx="1417320" cy="566928"/>
          </a:xfrm>
          <a:prstGeom prst="rect">
            <a:avLst/>
          </a:prstGeom>
          <a:solidFill>
            <a:srgbClr val="243B53"/>
          </a:solidFill>
          <a:ln w="7620">
            <a:solidFill>
              <a:srgbClr val="D9E2E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73752" y="3493008"/>
            <a:ext cx="1307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43B53"/>
                </a:solidFill>
              </a:rPr>
              <a:t>Medium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236208" y="3438144"/>
            <a:ext cx="4160520" cy="566928"/>
          </a:xfrm>
          <a:prstGeom prst="rect">
            <a:avLst/>
          </a:prstGeom>
          <a:solidFill>
            <a:srgbClr val="243B53"/>
          </a:solidFill>
          <a:ln w="7620">
            <a:solidFill>
              <a:srgbClr val="D9E2E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91072" y="3493008"/>
            <a:ext cx="4050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43B53"/>
                </a:solidFill>
              </a:rPr>
              <a:t>Online learning + mentor support</a:t>
            </a:r>
            <a:endParaRPr lang="en-US" sz="740" dirty="0"/>
          </a:p>
        </p:txBody>
      </p:sp>
      <p:sp>
        <p:nvSpPr>
          <p:cNvPr id="45" name="Shape 43"/>
          <p:cNvSpPr/>
          <p:nvPr/>
        </p:nvSpPr>
        <p:spPr>
          <a:xfrm>
            <a:off x="658368" y="4005072"/>
            <a:ext cx="2743200" cy="566928"/>
          </a:xfrm>
          <a:prstGeom prst="rect">
            <a:avLst/>
          </a:prstGeom>
          <a:solidFill>
            <a:srgbClr val="243B53"/>
          </a:solidFill>
          <a:ln w="7620">
            <a:solidFill>
              <a:srgbClr val="D9E2E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13232" y="4059936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43B53"/>
                </a:solidFill>
              </a:rPr>
              <a:t>Scope creep</a:t>
            </a:r>
            <a:endParaRPr lang="en-US" sz="740" dirty="0"/>
          </a:p>
        </p:txBody>
      </p:sp>
      <p:sp>
        <p:nvSpPr>
          <p:cNvPr id="47" name="Shape 45"/>
          <p:cNvSpPr/>
          <p:nvPr/>
        </p:nvSpPr>
        <p:spPr>
          <a:xfrm>
            <a:off x="3401568" y="4005072"/>
            <a:ext cx="1417320" cy="566928"/>
          </a:xfrm>
          <a:prstGeom prst="rect">
            <a:avLst/>
          </a:prstGeom>
          <a:solidFill>
            <a:srgbClr val="243B53"/>
          </a:solidFill>
          <a:ln w="7620">
            <a:solidFill>
              <a:srgbClr val="D9E2E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456432" y="4059936"/>
            <a:ext cx="1307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43B53"/>
                </a:solidFill>
              </a:rPr>
              <a:t>Medium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4818888" y="4005072"/>
            <a:ext cx="1417320" cy="566928"/>
          </a:xfrm>
          <a:prstGeom prst="rect">
            <a:avLst/>
          </a:prstGeom>
          <a:solidFill>
            <a:srgbClr val="243B53"/>
          </a:solidFill>
          <a:ln w="7620">
            <a:solidFill>
              <a:srgbClr val="D9E2E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73752" y="4059936"/>
            <a:ext cx="1307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43B53"/>
                </a:solidFill>
              </a:rPr>
              <a:t>Medium</a:t>
            </a:r>
            <a:endParaRPr lang="en-US" sz="740" dirty="0"/>
          </a:p>
        </p:txBody>
      </p:sp>
      <p:sp>
        <p:nvSpPr>
          <p:cNvPr id="51" name="Shape 49"/>
          <p:cNvSpPr/>
          <p:nvPr/>
        </p:nvSpPr>
        <p:spPr>
          <a:xfrm>
            <a:off x="6236208" y="4005072"/>
            <a:ext cx="4160520" cy="566928"/>
          </a:xfrm>
          <a:prstGeom prst="rect">
            <a:avLst/>
          </a:prstGeom>
          <a:solidFill>
            <a:srgbClr val="243B53"/>
          </a:solidFill>
          <a:ln w="7620">
            <a:solidFill>
              <a:srgbClr val="D9E2E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291072" y="4059936"/>
            <a:ext cx="4050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43B53"/>
                </a:solidFill>
              </a:rPr>
              <a:t>Change control and sign-off</a:t>
            </a:r>
            <a:endParaRPr lang="en-US" sz="740" dirty="0"/>
          </a:p>
        </p:txBody>
      </p:sp>
      <p:sp>
        <p:nvSpPr>
          <p:cNvPr id="53" name="Shape 51"/>
          <p:cNvSpPr/>
          <p:nvPr/>
        </p:nvSpPr>
        <p:spPr>
          <a:xfrm>
            <a:off x="1005840" y="4892040"/>
            <a:ext cx="9875520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005840" y="4892040"/>
            <a:ext cx="73152" cy="585216"/>
          </a:xfrm>
          <a:prstGeom prst="rect">
            <a:avLst/>
          </a:prstGeom>
          <a:solidFill>
            <a:srgbClr val="0EAD9B"/>
          </a:solidFill>
          <a:ln w="12700">
            <a:solidFill>
              <a:srgbClr val="0EAD9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207008" y="5038344"/>
            <a:ext cx="9491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102A43"/>
                </a:solidFill>
              </a:rPr>
              <a:t>Feasibility verdict</a:t>
            </a:r>
            <a:endParaRPr lang="en-US" sz="1040" dirty="0"/>
          </a:p>
        </p:txBody>
      </p:sp>
      <p:sp>
        <p:nvSpPr>
          <p:cNvPr id="56" name="Text 54"/>
          <p:cNvSpPr/>
          <p:nvPr/>
        </p:nvSpPr>
        <p:spPr>
          <a:xfrm>
            <a:off x="1207008" y="5321808"/>
            <a:ext cx="9491472" cy="54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243B53"/>
                </a:solidFill>
              </a:rPr>
              <a:t>Technically feasible using VS Code, Node.js, MySQL/PostgreSQL, GitHub and free-tier cloud/staging options. Economically feasible based on effort-only costing.</a:t>
            </a:r>
            <a:endParaRPr lang="en-US" sz="8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0727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transition spd="med">
    <p:fade/>
  </p:transition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92608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EAD9B"/>
                </a:solidFill>
              </a:rPr>
              <a:t>IMPROVEMENT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2A43"/>
                </a:solidFill>
              </a:rPr>
              <a:t>Task 2 Feedback Was Converted Into Concrete Fixes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AD9B"/>
          </a:solidFill>
          <a:ln w="12700">
            <a:solidFill>
              <a:srgbClr val="0EAD9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234440"/>
            <a:ext cx="438912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" y="1289304"/>
            <a:ext cx="42793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</a:rPr>
              <a:t>Feedback issue</a:t>
            </a:r>
            <a:endParaRPr lang="en-US" sz="780" dirty="0"/>
          </a:p>
        </p:txBody>
      </p:sp>
      <p:sp>
        <p:nvSpPr>
          <p:cNvPr id="7" name="Shape 5"/>
          <p:cNvSpPr/>
          <p:nvPr/>
        </p:nvSpPr>
        <p:spPr>
          <a:xfrm>
            <a:off x="5166360" y="1234440"/>
            <a:ext cx="585216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21224" y="1289304"/>
            <a:ext cx="5742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</a:rPr>
              <a:t>Fix made</a:t>
            </a:r>
            <a:endParaRPr lang="en-US" sz="780" dirty="0"/>
          </a:p>
        </p:txBody>
      </p:sp>
      <p:sp>
        <p:nvSpPr>
          <p:cNvPr id="9" name="Shape 7"/>
          <p:cNvSpPr/>
          <p:nvPr/>
        </p:nvSpPr>
        <p:spPr>
          <a:xfrm>
            <a:off x="777240" y="1856232"/>
            <a:ext cx="4389120" cy="621792"/>
          </a:xfrm>
          <a:prstGeom prst="rect">
            <a:avLst/>
          </a:prstGeom>
          <a:solidFill>
            <a:srgbClr val="243B53"/>
          </a:solidFill>
          <a:ln w="7620">
            <a:solidFill>
              <a:srgbClr val="D9E2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2104" y="1911096"/>
            <a:ext cx="42793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</a:rPr>
              <a:t>Use case diagram missing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5166360" y="1856232"/>
            <a:ext cx="5852160" cy="621792"/>
          </a:xfrm>
          <a:prstGeom prst="rect">
            <a:avLst/>
          </a:prstGeom>
          <a:solidFill>
            <a:srgbClr val="243B53"/>
          </a:solidFill>
          <a:ln w="7620">
            <a:solidFill>
              <a:srgbClr val="D9E2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21224" y="1911096"/>
            <a:ext cx="5742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</a:rPr>
              <a:t>Added link and embedded visual artifact</a:t>
            </a:r>
            <a:endParaRPr lang="en-US" sz="780" dirty="0"/>
          </a:p>
        </p:txBody>
      </p:sp>
      <p:sp>
        <p:nvSpPr>
          <p:cNvPr id="13" name="Shape 11"/>
          <p:cNvSpPr/>
          <p:nvPr/>
        </p:nvSpPr>
        <p:spPr>
          <a:xfrm>
            <a:off x="777240" y="2478024"/>
            <a:ext cx="4389120" cy="621792"/>
          </a:xfrm>
          <a:prstGeom prst="rect">
            <a:avLst/>
          </a:prstGeom>
          <a:solidFill>
            <a:srgbClr val="243B53"/>
          </a:solidFill>
          <a:ln w="7620">
            <a:solidFill>
              <a:srgbClr val="D9E2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104" y="2532888"/>
            <a:ext cx="42793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</a:rPr>
              <a:t>Input/output/process/entity tables unclear</a:t>
            </a:r>
            <a:endParaRPr lang="en-US" sz="780" dirty="0"/>
          </a:p>
        </p:txBody>
      </p:sp>
      <p:sp>
        <p:nvSpPr>
          <p:cNvPr id="15" name="Shape 13"/>
          <p:cNvSpPr/>
          <p:nvPr/>
        </p:nvSpPr>
        <p:spPr>
          <a:xfrm>
            <a:off x="5166360" y="2478024"/>
            <a:ext cx="5852160" cy="621792"/>
          </a:xfrm>
          <a:prstGeom prst="rect">
            <a:avLst/>
          </a:prstGeom>
          <a:solidFill>
            <a:srgbClr val="243B53"/>
          </a:solidFill>
          <a:ln w="7620">
            <a:solidFill>
              <a:srgbClr val="D9E2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21224" y="2532888"/>
            <a:ext cx="5742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</a:rPr>
              <a:t>Created detailed mapping tables</a:t>
            </a:r>
            <a:endParaRPr lang="en-US" sz="780" dirty="0"/>
          </a:p>
        </p:txBody>
      </p:sp>
      <p:sp>
        <p:nvSpPr>
          <p:cNvPr id="17" name="Shape 15"/>
          <p:cNvSpPr/>
          <p:nvPr/>
        </p:nvSpPr>
        <p:spPr>
          <a:xfrm>
            <a:off x="777240" y="3099816"/>
            <a:ext cx="4389120" cy="621792"/>
          </a:xfrm>
          <a:prstGeom prst="rect">
            <a:avLst/>
          </a:prstGeom>
          <a:solidFill>
            <a:srgbClr val="243B53"/>
          </a:solidFill>
          <a:ln w="7620">
            <a:solidFill>
              <a:srgbClr val="D9E2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2104" y="3154680"/>
            <a:ext cx="42793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</a:rPr>
              <a:t>Classes, attributes and relationships unconfirmed</a:t>
            </a:r>
            <a:endParaRPr lang="en-US" sz="780" dirty="0"/>
          </a:p>
        </p:txBody>
      </p:sp>
      <p:sp>
        <p:nvSpPr>
          <p:cNvPr id="19" name="Shape 17"/>
          <p:cNvSpPr/>
          <p:nvPr/>
        </p:nvSpPr>
        <p:spPr>
          <a:xfrm>
            <a:off x="5166360" y="3099816"/>
            <a:ext cx="5852160" cy="621792"/>
          </a:xfrm>
          <a:prstGeom prst="rect">
            <a:avLst/>
          </a:prstGeom>
          <a:solidFill>
            <a:srgbClr val="243B53"/>
          </a:solidFill>
          <a:ln w="7620">
            <a:solidFill>
              <a:srgbClr val="D9E2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21224" y="3154680"/>
            <a:ext cx="5742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</a:rPr>
              <a:t>Added complete class diagrams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777240" y="3721608"/>
            <a:ext cx="4389120" cy="621792"/>
          </a:xfrm>
          <a:prstGeom prst="rect">
            <a:avLst/>
          </a:prstGeom>
          <a:solidFill>
            <a:srgbClr val="243B53"/>
          </a:solidFill>
          <a:ln w="7620">
            <a:solidFill>
              <a:srgbClr val="D9E2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2104" y="3776472"/>
            <a:ext cx="42793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</a:rPr>
              <a:t>Entity tables missing</a:t>
            </a:r>
            <a:endParaRPr lang="en-US" sz="780" dirty="0"/>
          </a:p>
        </p:txBody>
      </p:sp>
      <p:sp>
        <p:nvSpPr>
          <p:cNvPr id="23" name="Shape 21"/>
          <p:cNvSpPr/>
          <p:nvPr/>
        </p:nvSpPr>
        <p:spPr>
          <a:xfrm>
            <a:off x="5166360" y="3721608"/>
            <a:ext cx="5852160" cy="621792"/>
          </a:xfrm>
          <a:prstGeom prst="rect">
            <a:avLst/>
          </a:prstGeom>
          <a:solidFill>
            <a:srgbClr val="243B53"/>
          </a:solidFill>
          <a:ln w="7620">
            <a:solidFill>
              <a:srgbClr val="D9E2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21224" y="3776472"/>
            <a:ext cx="5742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</a:rPr>
              <a:t>Added 9-entity domain summary</a:t>
            </a:r>
            <a:endParaRPr lang="en-US" sz="780" dirty="0"/>
          </a:p>
        </p:txBody>
      </p:sp>
      <p:sp>
        <p:nvSpPr>
          <p:cNvPr id="25" name="Shape 23"/>
          <p:cNvSpPr/>
          <p:nvPr/>
        </p:nvSpPr>
        <p:spPr>
          <a:xfrm>
            <a:off x="777240" y="4343400"/>
            <a:ext cx="4389120" cy="621792"/>
          </a:xfrm>
          <a:prstGeom prst="rect">
            <a:avLst/>
          </a:prstGeom>
          <a:solidFill>
            <a:srgbClr val="243B53"/>
          </a:solidFill>
          <a:ln w="7620">
            <a:solidFill>
              <a:srgbClr val="D9E2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2104" y="4398264"/>
            <a:ext cx="42793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</a:rPr>
              <a:t>Insufficient UML proof</a:t>
            </a:r>
            <a:endParaRPr lang="en-US" sz="780" dirty="0"/>
          </a:p>
        </p:txBody>
      </p:sp>
      <p:sp>
        <p:nvSpPr>
          <p:cNvPr id="27" name="Shape 25"/>
          <p:cNvSpPr/>
          <p:nvPr/>
        </p:nvSpPr>
        <p:spPr>
          <a:xfrm>
            <a:off x="5166360" y="4343400"/>
            <a:ext cx="5852160" cy="621792"/>
          </a:xfrm>
          <a:prstGeom prst="rect">
            <a:avLst/>
          </a:prstGeom>
          <a:solidFill>
            <a:srgbClr val="243B53"/>
          </a:solidFill>
          <a:ln w="7620">
            <a:solidFill>
              <a:srgbClr val="D9E2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21224" y="4398264"/>
            <a:ext cx="5742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</a:rPr>
              <a:t>Added logical model + domain class diagrams</a:t>
            </a:r>
            <a:endParaRPr lang="en-US" sz="780" dirty="0"/>
          </a:p>
        </p:txBody>
      </p:sp>
      <p:sp>
        <p:nvSpPr>
          <p:cNvPr id="29" name="Text 27"/>
          <p:cNvSpPr/>
          <p:nvPr/>
        </p:nvSpPr>
        <p:spPr>
          <a:xfrm>
            <a:off x="1005840" y="5321808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6B4A"/>
                </a:solidFill>
              </a:rPr>
              <a:t>Original issue: 53/100 impact. Final response: every flagged artifact now has a visible proof object.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0727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transition spd="med">
    <p:push dir="l"/>
  </p:transition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92608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EAD9B"/>
                </a:solidFill>
              </a:rPr>
              <a:t>DATABASE DESIGN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2A43"/>
                </a:solidFill>
              </a:rPr>
              <a:t>Normalized Data Model Supports Clinical and Admin Workflows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AD9B"/>
          </a:solidFill>
          <a:ln w="12700">
            <a:solidFill>
              <a:srgbClr val="0EAD9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325880"/>
            <a:ext cx="2633472" cy="749808"/>
          </a:xfrm>
          <a:prstGeom prst="roundRect">
            <a:avLst>
              <a:gd name="adj" fmla="val 8537"/>
            </a:avLst>
          </a:prstGeom>
          <a:solidFill>
            <a:srgbClr val="DAF5E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9264" y="1600200"/>
            <a:ext cx="2377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02A43"/>
                </a:solidFill>
              </a:rPr>
              <a:t>Patient</a:t>
            </a:r>
            <a:endParaRPr lang="en-US" sz="1020" dirty="0"/>
          </a:p>
        </p:txBody>
      </p:sp>
      <p:sp>
        <p:nvSpPr>
          <p:cNvPr id="7" name="Shape 5"/>
          <p:cNvSpPr/>
          <p:nvPr/>
        </p:nvSpPr>
        <p:spPr>
          <a:xfrm>
            <a:off x="4270248" y="1325880"/>
            <a:ext cx="2633472" cy="749808"/>
          </a:xfrm>
          <a:prstGeom prst="roundRect">
            <a:avLst>
              <a:gd name="adj" fmla="val 8537"/>
            </a:avLst>
          </a:prstGeom>
          <a:solidFill>
            <a:srgbClr val="E8F1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98264" y="1600200"/>
            <a:ext cx="2377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02A43"/>
                </a:solidFill>
              </a:rPr>
              <a:t>Doctor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7699248" y="1325880"/>
            <a:ext cx="2633472" cy="749808"/>
          </a:xfrm>
          <a:prstGeom prst="roundRect">
            <a:avLst>
              <a:gd name="adj" fmla="val 8537"/>
            </a:avLst>
          </a:prstGeom>
          <a:solidFill>
            <a:srgbClr val="DAF5E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27264" y="1600200"/>
            <a:ext cx="2377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02A43"/>
                </a:solidFill>
              </a:rPr>
              <a:t>Appointment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841248" y="2788920"/>
            <a:ext cx="2633472" cy="749808"/>
          </a:xfrm>
          <a:prstGeom prst="roundRect">
            <a:avLst>
              <a:gd name="adj" fmla="val 8537"/>
            </a:avLst>
          </a:prstGeom>
          <a:solidFill>
            <a:srgbClr val="E8F1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9264" y="3063240"/>
            <a:ext cx="2377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02A43"/>
                </a:solidFill>
              </a:rPr>
              <a:t>Prescription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4270248" y="2788920"/>
            <a:ext cx="2633472" cy="749808"/>
          </a:xfrm>
          <a:prstGeom prst="roundRect">
            <a:avLst>
              <a:gd name="adj" fmla="val 8537"/>
            </a:avLst>
          </a:prstGeom>
          <a:solidFill>
            <a:srgbClr val="DAF5E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98264" y="3063240"/>
            <a:ext cx="2377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02A43"/>
                </a:solidFill>
              </a:rPr>
              <a:t>Billing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7699248" y="2788920"/>
            <a:ext cx="2633472" cy="749808"/>
          </a:xfrm>
          <a:prstGeom prst="roundRect">
            <a:avLst>
              <a:gd name="adj" fmla="val 8537"/>
            </a:avLst>
          </a:prstGeom>
          <a:solidFill>
            <a:srgbClr val="E8F1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27264" y="3063240"/>
            <a:ext cx="2377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02A43"/>
                </a:solidFill>
              </a:rPr>
              <a:t>UserAccount</a:t>
            </a:r>
            <a:endParaRPr lang="en-US" sz="1020" dirty="0"/>
          </a:p>
        </p:txBody>
      </p:sp>
      <p:sp>
        <p:nvSpPr>
          <p:cNvPr id="17" name="Text 15"/>
          <p:cNvSpPr/>
          <p:nvPr/>
        </p:nvSpPr>
        <p:spPr>
          <a:xfrm>
            <a:off x="960120" y="4553712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243B53"/>
                </a:solidFill>
              </a:rPr>
              <a:t>Core relationships: Patient 1:M Appointment, Prescription and Billing | Doctor 1:M Appointment and Prescription | UserAccount links authentication through personID.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3383280" y="5330952"/>
            <a:ext cx="5440680" cy="274320"/>
          </a:xfrm>
          <a:prstGeom prst="roundRect">
            <a:avLst>
              <a:gd name="adj" fmla="val 23333"/>
            </a:avLst>
          </a:prstGeom>
          <a:solidFill>
            <a:srgbClr val="0EAD9B"/>
          </a:solidFill>
          <a:ln w="12700">
            <a:solidFill>
              <a:srgbClr val="0EAD9B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56432" y="5399532"/>
            <a:ext cx="529437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FFFFFF"/>
                </a:solidFill>
              </a:rPr>
              <a:t>3NF: no partial dependencies, no transitive dependencies</a:t>
            </a:r>
            <a:endParaRPr lang="en-US" sz="6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0727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transition spd="med">
    <p:fade/>
  </p:transition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92608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EAD9B"/>
                </a:solidFill>
              </a:rPr>
              <a:t>PROTOTYPE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2A43"/>
                </a:solidFill>
              </a:rPr>
              <a:t>Prototype Preview: The VS Code Build Centers the Daily Clinic Workflow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AD9B"/>
          </a:solidFill>
          <a:ln w="12700">
            <a:solidFill>
              <a:srgbClr val="0EAD9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207008"/>
            <a:ext cx="4828032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435608"/>
            <a:ext cx="1078992" cy="822960"/>
          </a:xfrm>
          <a:prstGeom prst="rect">
            <a:avLst/>
          </a:prstGeom>
          <a:solidFill>
            <a:srgbClr val="DAF5E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42416" y="1636776"/>
            <a:ext cx="786384" cy="0"/>
          </a:xfrm>
          <a:prstGeom prst="line">
            <a:avLst/>
          </a:prstGeom>
          <a:noFill/>
          <a:ln w="12700">
            <a:solidFill>
              <a:srgbClr val="627D9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42416" y="1819656"/>
            <a:ext cx="640080" cy="0"/>
          </a:xfrm>
          <a:prstGeom prst="line">
            <a:avLst/>
          </a:prstGeom>
          <a:noFill/>
          <a:ln w="12700">
            <a:solidFill>
              <a:srgbClr val="627D9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60704" y="1993392"/>
            <a:ext cx="530352" cy="146304"/>
          </a:xfrm>
          <a:prstGeom prst="roundRect">
            <a:avLst>
              <a:gd name="adj" fmla="val 18750"/>
            </a:avLst>
          </a:prstGeom>
          <a:solidFill>
            <a:srgbClr val="0EAD9B"/>
          </a:solidFill>
          <a:ln w="12700">
            <a:solidFill>
              <a:srgbClr val="0EAD9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31136" y="1536192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Login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231136" y="1901952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243B53"/>
                </a:solidFill>
              </a:rPr>
              <a:t>Authenticate user by role</a:t>
            </a:r>
            <a:endParaRPr lang="en-US" sz="840" dirty="0"/>
          </a:p>
        </p:txBody>
      </p:sp>
      <p:sp>
        <p:nvSpPr>
          <p:cNvPr id="12" name="Shape 10"/>
          <p:cNvSpPr/>
          <p:nvPr/>
        </p:nvSpPr>
        <p:spPr>
          <a:xfrm>
            <a:off x="6190488" y="1207008"/>
            <a:ext cx="4828032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55080" y="1435608"/>
            <a:ext cx="1078992" cy="822960"/>
          </a:xfrm>
          <a:prstGeom prst="rect">
            <a:avLst/>
          </a:prstGeom>
          <a:solidFill>
            <a:srgbClr val="E8F1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83096" y="1636776"/>
            <a:ext cx="786384" cy="0"/>
          </a:xfrm>
          <a:prstGeom prst="line">
            <a:avLst/>
          </a:prstGeom>
          <a:noFill/>
          <a:ln w="12700">
            <a:solidFill>
              <a:srgbClr val="627D9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83096" y="1819656"/>
            <a:ext cx="640080" cy="0"/>
          </a:xfrm>
          <a:prstGeom prst="line">
            <a:avLst/>
          </a:prstGeom>
          <a:noFill/>
          <a:ln w="12700">
            <a:solidFill>
              <a:srgbClr val="627D9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01384" y="1993392"/>
            <a:ext cx="530352" cy="146304"/>
          </a:xfrm>
          <a:prstGeom prst="roundRect">
            <a:avLst>
              <a:gd name="adj" fmla="val 18750"/>
            </a:avLst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71816" y="1536192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Dashboard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671816" y="1901952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243B53"/>
                </a:solidFill>
              </a:rPr>
              <a:t>See today’s clinic activity</a:t>
            </a:r>
            <a:endParaRPr lang="en-US" sz="840" dirty="0"/>
          </a:p>
        </p:txBody>
      </p:sp>
      <p:sp>
        <p:nvSpPr>
          <p:cNvPr id="19" name="Shape 17"/>
          <p:cNvSpPr/>
          <p:nvPr/>
        </p:nvSpPr>
        <p:spPr>
          <a:xfrm>
            <a:off x="749808" y="3081528"/>
            <a:ext cx="4828032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3310128"/>
            <a:ext cx="1078992" cy="822960"/>
          </a:xfrm>
          <a:prstGeom prst="rect">
            <a:avLst/>
          </a:prstGeom>
          <a:solidFill>
            <a:srgbClr val="DAF5E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42416" y="3511296"/>
            <a:ext cx="786384" cy="0"/>
          </a:xfrm>
          <a:prstGeom prst="line">
            <a:avLst/>
          </a:prstGeom>
          <a:noFill/>
          <a:ln w="12700">
            <a:solidFill>
              <a:srgbClr val="627D9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42416" y="3694176"/>
            <a:ext cx="640080" cy="0"/>
          </a:xfrm>
          <a:prstGeom prst="line">
            <a:avLst/>
          </a:prstGeom>
          <a:noFill/>
          <a:ln w="12700">
            <a:solidFill>
              <a:srgbClr val="627D9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60704" y="3867912"/>
            <a:ext cx="530352" cy="146304"/>
          </a:xfrm>
          <a:prstGeom prst="roundRect">
            <a:avLst>
              <a:gd name="adj" fmla="val 18750"/>
            </a:avLst>
          </a:prstGeom>
          <a:solidFill>
            <a:srgbClr val="0EAD9B"/>
          </a:solidFill>
          <a:ln w="12700">
            <a:solidFill>
              <a:srgbClr val="0EAD9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31136" y="3410712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Register Patient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231136" y="3776472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243B53"/>
                </a:solidFill>
              </a:rPr>
              <a:t>Capture validated patient details</a:t>
            </a:r>
            <a:endParaRPr lang="en-US" sz="840" dirty="0"/>
          </a:p>
        </p:txBody>
      </p:sp>
      <p:sp>
        <p:nvSpPr>
          <p:cNvPr id="26" name="Shape 24"/>
          <p:cNvSpPr/>
          <p:nvPr/>
        </p:nvSpPr>
        <p:spPr>
          <a:xfrm>
            <a:off x="6190488" y="3081528"/>
            <a:ext cx="4828032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55080" y="3310128"/>
            <a:ext cx="1078992" cy="822960"/>
          </a:xfrm>
          <a:prstGeom prst="rect">
            <a:avLst/>
          </a:prstGeom>
          <a:solidFill>
            <a:srgbClr val="E8F1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83096" y="3511296"/>
            <a:ext cx="786384" cy="0"/>
          </a:xfrm>
          <a:prstGeom prst="line">
            <a:avLst/>
          </a:prstGeom>
          <a:noFill/>
          <a:ln w="12700">
            <a:solidFill>
              <a:srgbClr val="627D9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83096" y="3694176"/>
            <a:ext cx="640080" cy="0"/>
          </a:xfrm>
          <a:prstGeom prst="line">
            <a:avLst/>
          </a:prstGeom>
          <a:noFill/>
          <a:ln w="12700">
            <a:solidFill>
              <a:srgbClr val="627D9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01384" y="3867912"/>
            <a:ext cx="530352" cy="146304"/>
          </a:xfrm>
          <a:prstGeom prst="roundRect">
            <a:avLst>
              <a:gd name="adj" fmla="val 18750"/>
            </a:avLst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71816" y="3410712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Book Appointment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671816" y="3776472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243B53"/>
                </a:solidFill>
              </a:rPr>
              <a:t>Schedule, update or cancel visits</a:t>
            </a:r>
            <a:endParaRPr lang="en-US" sz="840" dirty="0"/>
          </a:p>
        </p:txBody>
      </p:sp>
      <p:sp>
        <p:nvSpPr>
          <p:cNvPr id="33" name="Text 31"/>
          <p:cNvSpPr/>
          <p:nvPr/>
        </p:nvSpPr>
        <p:spPr>
          <a:xfrm>
            <a:off x="1097280" y="537667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27D98"/>
                </a:solidFill>
              </a:rPr>
              <a:t>Placeholder links can be replaced with the final GitHub repository and live prototype URL before submission.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0727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transition spd="med">
    <p:push dir="l"/>
  </p:transition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92608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EAD9B"/>
                </a:solidFill>
              </a:rPr>
              <a:t>TEAM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2A43"/>
                </a:solidFill>
              </a:rPr>
              <a:t>Tech Hustlers: Clear Ownership Across Plan, Design and Build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AD9B"/>
          </a:solidFill>
          <a:ln w="12700">
            <a:solidFill>
              <a:srgbClr val="0EAD9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389888"/>
            <a:ext cx="3182112" cy="333756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47672" y="1755648"/>
            <a:ext cx="896112" cy="896112"/>
          </a:xfrm>
          <a:prstGeom prst="ellipse">
            <a:avLst/>
          </a:prstGeom>
          <a:solidFill>
            <a:srgbClr val="0EAD9B"/>
          </a:solidFill>
          <a:ln w="12700">
            <a:solidFill>
              <a:srgbClr val="0EAD9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947672" y="2048256"/>
            <a:ext cx="8961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2871216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Acazia Ammon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52144" y="3246120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27D98"/>
                </a:solidFill>
              </a:rPr>
              <a:t>Project Manager</a:t>
            </a:r>
            <a:endParaRPr lang="en-US" sz="820" dirty="0"/>
          </a:p>
          <a:p>
            <a:pPr algn="ctr" indent="0" marL="0">
              <a:buNone/>
            </a:pPr>
            <a:r>
              <a:rPr lang="en-US" sz="820" dirty="0">
                <a:solidFill>
                  <a:srgbClr val="627D98"/>
                </a:solidFill>
              </a:rPr>
              <a:t>ST10451774</a:t>
            </a:r>
            <a:endParaRPr lang="en-US" sz="820" dirty="0"/>
          </a:p>
        </p:txBody>
      </p:sp>
      <p:sp>
        <p:nvSpPr>
          <p:cNvPr id="10" name="Text 8"/>
          <p:cNvSpPr/>
          <p:nvPr/>
        </p:nvSpPr>
        <p:spPr>
          <a:xfrm>
            <a:off x="1133856" y="3886200"/>
            <a:ext cx="2542032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43B53"/>
                </a:solidFill>
              </a:rPr>
              <a:t>Planning, timeline, risk, budget and client communication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4572000" y="1389888"/>
            <a:ext cx="3182112" cy="333756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15000" y="1755648"/>
            <a:ext cx="896112" cy="896112"/>
          </a:xfrm>
          <a:prstGeom prst="ellipse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15000" y="2048256"/>
            <a:ext cx="8961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LM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64608" y="2871216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Liyema Masala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19472" y="3246120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27D98"/>
                </a:solidFill>
              </a:rPr>
              <a:t>Software Designer</a:t>
            </a:r>
            <a:endParaRPr lang="en-US" sz="820" dirty="0"/>
          </a:p>
          <a:p>
            <a:pPr algn="ctr" indent="0" marL="0">
              <a:buNone/>
            </a:pPr>
            <a:r>
              <a:rPr lang="en-US" sz="820" dirty="0">
                <a:solidFill>
                  <a:srgbClr val="627D98"/>
                </a:solidFill>
              </a:rPr>
              <a:t>ST10452479</a:t>
            </a:r>
            <a:endParaRPr lang="en-US" sz="820" dirty="0"/>
          </a:p>
        </p:txBody>
      </p:sp>
      <p:sp>
        <p:nvSpPr>
          <p:cNvPr id="16" name="Text 14"/>
          <p:cNvSpPr/>
          <p:nvPr/>
        </p:nvSpPr>
        <p:spPr>
          <a:xfrm>
            <a:off x="4901184" y="3886200"/>
            <a:ext cx="2542032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43B53"/>
                </a:solidFill>
              </a:rPr>
              <a:t>System architecture, UI/UX, class diagrams, ERD and prototype</a:t>
            </a:r>
            <a:endParaRPr lang="en-US" sz="780" dirty="0"/>
          </a:p>
        </p:txBody>
      </p:sp>
      <p:sp>
        <p:nvSpPr>
          <p:cNvPr id="17" name="Shape 15"/>
          <p:cNvSpPr/>
          <p:nvPr/>
        </p:nvSpPr>
        <p:spPr>
          <a:xfrm>
            <a:off x="8339328" y="1389888"/>
            <a:ext cx="3182112" cy="333756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482328" y="1755648"/>
            <a:ext cx="896112" cy="896112"/>
          </a:xfrm>
          <a:prstGeom prst="ellipse">
            <a:avLst/>
          </a:prstGeom>
          <a:solidFill>
            <a:srgbClr val="FF6B4A"/>
          </a:solidFill>
          <a:ln w="12700">
            <a:solidFill>
              <a:srgbClr val="FF6B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82328" y="2048256"/>
            <a:ext cx="8961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JR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631936" y="2871216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Junior Rasenyalo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686800" y="3246120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27D98"/>
                </a:solidFill>
              </a:rPr>
              <a:t>Software Developer</a:t>
            </a:r>
            <a:endParaRPr lang="en-US" sz="820" dirty="0"/>
          </a:p>
          <a:p>
            <a:pPr algn="ctr" indent="0" marL="0">
              <a:buNone/>
            </a:pPr>
            <a:r>
              <a:rPr lang="en-US" sz="820" dirty="0">
                <a:solidFill>
                  <a:srgbClr val="627D98"/>
                </a:solidFill>
              </a:rPr>
              <a:t>ST10452404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8668512" y="3886200"/>
            <a:ext cx="2542032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43B53"/>
                </a:solidFill>
              </a:rPr>
              <a:t>Database design, backend/API implementation, testing and Git</a:t>
            </a:r>
            <a:endParaRPr lang="en-US" sz="7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0727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transition spd="med">
    <p:fade/>
  </p:transition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65836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AD9B"/>
                </a:solidFill>
              </a:rPr>
              <a:t>The Outcome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49808" y="1170432"/>
            <a:ext cx="7543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</a:rPr>
              <a:t>MediCloud transforms VitaCare from paper-based chaos to secure digital efficiency.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960120" y="2743200"/>
            <a:ext cx="5029200" cy="1664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DDEBF5"/>
                </a:solidFill>
              </a:rPr>
              <a:t>✓ Project plan complete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DDEBF5"/>
                </a:solidFill>
              </a:rPr>
              <a:t>✓ Requirements and UML corrected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DDEBF5"/>
                </a:solidFill>
              </a:rPr>
              <a:t>✓ 3-tier architecture defined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DDEBF5"/>
                </a:solidFill>
              </a:rPr>
              <a:t>✓ 6-table 3NF database model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DDEBF5"/>
                </a:solidFill>
              </a:rPr>
              <a:t>✓ Prototype workflow ready</a:t>
            </a:r>
            <a:endParaRPr lang="en-US" sz="1240" dirty="0"/>
          </a:p>
        </p:txBody>
      </p:sp>
      <p:sp>
        <p:nvSpPr>
          <p:cNvPr id="6" name="Text 4"/>
          <p:cNvSpPr/>
          <p:nvPr/>
        </p:nvSpPr>
        <p:spPr>
          <a:xfrm>
            <a:off x="6693408" y="4151376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</a:rPr>
              <a:t>Questions &amp; Answers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784848" y="4718304"/>
            <a:ext cx="3913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CFE8F3"/>
                </a:solidFill>
              </a:rPr>
              <a:t>Acazia Ammon | Liyema Masala | Junior Rasenyalo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 rot="1800000">
            <a:off x="7818120" y="502920"/>
            <a:ext cx="4389120" cy="4389120"/>
          </a:xfrm>
          <a:prstGeom prst="arc">
            <a:avLst/>
          </a:prstGeom>
          <a:noFill/>
          <a:ln w="25400">
            <a:solidFill>
              <a:srgbClr val="FF6B4A">
                <a:alpha val="88000"/>
              </a:srgbClr>
            </a:solidFill>
            <a:prstDash val="solid"/>
          </a:ln>
        </p:spPr>
      </p:sp>
    </p:spTree>
  </p:cSld>
  <p:transition spd="med">
    <p:push dir="l"/>
  </p:transition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Tech Hustlers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MediCloud EMR System</dc:title>
  <dc:subject>MediCloud EMR System project presentation</dc:subject>
  <dc:creator>Tech Hustlers</dc:creator>
  <cp:lastModifiedBy>Tech Hustlers</cp:lastModifiedBy>
  <cp:revision>1</cp:revision>
  <dcterms:created xsi:type="dcterms:W3CDTF">2026-06-12T06:46:30Z</dcterms:created>
  <dcterms:modified xsi:type="dcterms:W3CDTF">2026-06-12T06:46:30Z</dcterms:modified>
</cp:coreProperties>
</file>